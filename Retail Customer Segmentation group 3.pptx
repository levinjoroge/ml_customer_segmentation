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y="18288000" cx="3251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2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hyperlink" Target="https://media.istockphoto.com/id/1175445207/vector/shopping-people.jpg?s=612" TargetMode="External"/><Relationship Id="rId2" Type="http://schemas.openxmlformats.org/officeDocument/2006/relationships/hyperlink" Target="https://www.istockphoto.com" TargetMode="External"/><Relationship Id="rId3" Type="http://schemas.openxmlformats.org/officeDocument/2006/relationships/hyperlink" Target="https://cdn.cxtms.com/blog/2026-emerging-trends-technology.webp" TargetMode="External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 2"/>
          <p:cNvSpPr/>
          <p:nvPr/>
        </p:nvSpPr>
        <p:spPr>
          <a:xfrm>
            <a:off x="0" y="0"/>
            <a:ext cx="32499321" cy="18288000"/>
          </a:xfrm>
          <a:prstGeom prst="rect"/>
          <a:solidFill>
            <a:srgbClr val="0C142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sp>
        <p:nvSpPr>
          <p:cNvPr id="1048577" name="textbox 4"/>
          <p:cNvSpPr/>
          <p:nvPr/>
        </p:nvSpPr>
        <p:spPr>
          <a:xfrm>
            <a:off x="1555678" y="4070636"/>
            <a:ext cx="14564994" cy="663955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4020"/>
              </a:lnSpc>
            </a:pPr>
            <a:r>
              <a:rPr dirty="0" sz="2900" kern="0" spc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SOEN</a:t>
            </a:r>
            <a:r>
              <a:rPr dirty="0" sz="2900" kern="0" spc="2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400·</a:t>
            </a:r>
            <a:r>
              <a:rPr dirty="0" sz="2900" kern="0" spc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r>
              <a:rPr dirty="0" sz="2900" kern="0" spc="2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dirty="0" sz="2900" kern="0" spc="1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dirty="0" sz="2900" kern="0" spc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PROGRESS</a:t>
            </a:r>
            <a:r>
              <a:rPr dirty="0" sz="2900" kern="0" spc="1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dirty="0" sz="2900" kern="0" spc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CHECK</a:t>
            </a:r>
            <a:endParaRPr dirty="0" sz="29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0014" rtl="0">
              <a:lnSpc>
                <a:spcPts val="9900"/>
              </a:lnSpc>
              <a:spcBef>
                <a:spcPts val="3967"/>
              </a:spcBef>
            </a:pPr>
            <a:r>
              <a:rPr b="1" dirty="0" sz="13200" kern="0" spc="-52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 Customer</a:t>
            </a:r>
            <a:endParaRPr dirty="0" sz="132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17750"/>
              </a:lnSpc>
            </a:pPr>
            <a:r>
              <a:rPr b="1" dirty="0" sz="13200" kern="0" spc="-2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Segmentation</a:t>
            </a:r>
            <a:endParaRPr dirty="0" sz="1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3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3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3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649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6883"/>
              </a:lnSpc>
            </a:pPr>
            <a:r>
              <a:rPr dirty="0" sz="50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Discovering</a:t>
            </a:r>
            <a:r>
              <a:rPr dirty="0" sz="5000" kern="0" spc="8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50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behavioral</a:t>
            </a:r>
            <a:r>
              <a:rPr dirty="0" sz="5000" kern="0" spc="6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50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groups</a:t>
            </a:r>
            <a:r>
              <a:rPr dirty="0" sz="5000" kern="0" spc="5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50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via</a:t>
            </a:r>
            <a:r>
              <a:rPr dirty="0" sz="5000" kern="0" spc="88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50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RFM</a:t>
            </a:r>
            <a:r>
              <a:rPr dirty="0" sz="5000" kern="0" spc="68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5000" kern="0" spc="-2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clustering.</a:t>
            </a:r>
            <a:endParaRPr dirty="0" sz="5000">
              <a:latin typeface="Arial"/>
              <a:ea typeface="Arial"/>
              <a:cs typeface="Arial"/>
            </a:endParaRPr>
          </a:p>
        </p:txBody>
      </p:sp>
      <p:sp>
        <p:nvSpPr>
          <p:cNvPr id="1048578" name="textbox 6"/>
          <p:cNvSpPr/>
          <p:nvPr/>
        </p:nvSpPr>
        <p:spPr>
          <a:xfrm>
            <a:off x="5664219" y="13225160"/>
            <a:ext cx="5803900" cy="114300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322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dirty="0" sz="2900" kern="0" spc="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METHODOLOGY</a:t>
            </a:r>
            <a:endParaRPr dirty="0" sz="29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9088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3000"/>
              </a:lnSpc>
            </a:pPr>
            <a:r>
              <a:rPr b="1" dirty="0" sz="4400" kern="0" spc="-17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b="1" dirty="0" sz="4400" kern="0" spc="20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4400" kern="0" spc="-17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Mining </a:t>
            </a:r>
            <a:r>
              <a:rPr b="1" dirty="0" sz="4400" kern="0" spc="-18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&amp;Analytics</a:t>
            </a:r>
            <a:endParaRPr dirty="0" sz="4400">
              <a:latin typeface="Arial"/>
              <a:ea typeface="Arial"/>
              <a:cs typeface="Arial"/>
            </a:endParaRPr>
          </a:p>
        </p:txBody>
      </p:sp>
      <p:sp>
        <p:nvSpPr>
          <p:cNvPr id="1048579" name="textbox 8"/>
          <p:cNvSpPr/>
          <p:nvPr/>
        </p:nvSpPr>
        <p:spPr>
          <a:xfrm>
            <a:off x="1555678" y="13168292"/>
            <a:ext cx="2835275" cy="116713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076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3000"/>
              </a:lnSpc>
            </a:pPr>
            <a:r>
              <a:rPr dirty="0" sz="2900" kern="0" spc="-6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dirty="0" sz="29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ESENTED</a:t>
            </a:r>
            <a:r>
              <a:rPr dirty="0" sz="2900" kern="0" spc="2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29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dirty="0" sz="29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dirty="0" sz="29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7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656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</a:pPr>
            <a:r>
              <a:rPr b="1" dirty="0" sz="4100" kern="0" spc="-8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b="1" dirty="0" sz="4100" kern="0" spc="1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4100" kern="0" spc="-8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dirty="0" sz="41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16992722" y="4032321"/>
            <a:ext cx="13944396" cy="11969678"/>
          </a:xfrm>
          <a:prstGeom prst="rect"/>
        </p:spPr>
      </p:pic>
      <p:sp>
        <p:nvSpPr>
          <p:cNvPr id="1048580" name="textbox 12"/>
          <p:cNvSpPr/>
          <p:nvPr/>
        </p:nvSpPr>
        <p:spPr>
          <a:xfrm>
            <a:off x="1555678" y="6665528"/>
            <a:ext cx="13765530" cy="767143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078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8000"/>
              </a:lnSpc>
            </a:pPr>
            <a:r>
              <a:rPr dirty="0" sz="45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Treating  all</a:t>
            </a:r>
            <a:r>
              <a:rPr dirty="0" sz="45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customers  the  same  wastes  marketing</a:t>
            </a:r>
            <a:r>
              <a:rPr dirty="0" sz="45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5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effort  and  misses  chances  </a:t>
            </a:r>
            <a:r>
              <a:rPr dirty="0" sz="45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retain  highly  valuable</a:t>
            </a:r>
            <a:r>
              <a:rPr dirty="0" sz="45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groups.</a:t>
            </a:r>
            <a:endParaRPr dirty="0" sz="45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039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3000"/>
              </a:lnSpc>
            </a:pPr>
            <a:r>
              <a:rPr dirty="0" sz="4500" kern="0" spc="-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 businesses serve thousands of customers who</a:t>
            </a:r>
            <a:r>
              <a:rPr dirty="0" sz="45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dirty="0" sz="45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 widely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often they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 an</a:t>
            </a:r>
            <a:r>
              <a:rPr dirty="0" sz="4500" kern="0" spc="-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much they</a:t>
            </a:r>
            <a:r>
              <a:rPr dirty="0" sz="45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dirty="0" sz="45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spend.Because there are </a:t>
            </a:r>
            <a:r>
              <a:rPr dirty="0" sz="45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 predefined</a:t>
            </a:r>
            <a:r>
              <a:rPr dirty="0" sz="4500" kern="0" spc="1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categories,</a:t>
            </a:r>
            <a:r>
              <a:rPr dirty="0" sz="45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dirty="0" sz="45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distinct behavioral groups</a:t>
            </a:r>
            <a:r>
              <a:rPr dirty="0" sz="4500" kern="0" spc="-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must</a:t>
            </a:r>
            <a:r>
              <a:rPr dirty="0" sz="4500" kern="0" spc="2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discovered</a:t>
            </a:r>
            <a:r>
              <a:rPr dirty="0" sz="4500" kern="0" spc="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500" kern="0" spc="-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directly</a:t>
            </a:r>
            <a:r>
              <a:rPr dirty="0" sz="45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dirty="0" sz="45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 transaction data.</a:t>
            </a:r>
            <a:endParaRPr dirty="0" sz="4500">
              <a:latin typeface="Arial"/>
              <a:ea typeface="Arial"/>
              <a:cs typeface="Arial"/>
            </a:endParaRPr>
          </a:p>
        </p:txBody>
      </p:sp>
      <p:sp>
        <p:nvSpPr>
          <p:cNvPr id="1048581" name="textbox 14"/>
          <p:cNvSpPr/>
          <p:nvPr/>
        </p:nvSpPr>
        <p:spPr>
          <a:xfrm>
            <a:off x="1555678" y="1344248"/>
            <a:ext cx="16814800" cy="198373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916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b="1" dirty="0" sz="3300" kern="0" spc="58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</a:t>
            </a:r>
            <a:r>
              <a:rPr b="1" dirty="0" sz="3300" kern="0" spc="46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</a:t>
            </a:r>
            <a:r>
              <a:rPr b="1" dirty="0" sz="33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2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59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1000"/>
              </a:lnSpc>
            </a:pPr>
            <a:r>
              <a:rPr b="1" dirty="0" sz="86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Beyond one-size-fits</a:t>
            </a:r>
            <a:r>
              <a:rPr b="1" dirty="0" sz="8600" kern="0" spc="-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-all marketing.</a:t>
            </a:r>
            <a:endParaRPr dirty="0" sz="86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textbox 16"/>
          <p:cNvSpPr/>
          <p:nvPr/>
        </p:nvSpPr>
        <p:spPr>
          <a:xfrm>
            <a:off x="4788021" y="5145027"/>
            <a:ext cx="17745710" cy="961707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9018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5000" kern="0" spc="-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1.Obtain a</a:t>
            </a:r>
            <a:r>
              <a:rPr b="1" dirty="0" sz="5000" kern="0" spc="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5000" kern="0" spc="-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Descri</a:t>
            </a:r>
            <a:r>
              <a:rPr b="1" dirty="0" sz="50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endParaRPr dirty="0" sz="5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1019"/>
              </a:spcBef>
            </a:pP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Acquire</a:t>
            </a:r>
            <a:r>
              <a:rPr dirty="0" sz="3800" kern="0" spc="5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dirty="0" sz="3800" kern="0" spc="4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</a:t>
            </a:r>
            <a:r>
              <a:rPr dirty="0" sz="3800" kern="0" spc="5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dirty="0" sz="3800" kern="0" spc="5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understand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underlying</a:t>
            </a:r>
            <a:r>
              <a:rPr dirty="0" sz="3800" kern="0" spc="5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structure.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  <a:spcBef>
                <a:spcPts val="1511"/>
              </a:spcBef>
            </a:pPr>
            <a:r>
              <a:rPr b="1" dirty="0" sz="5000" kern="0" spc="-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2.Clean Quality</a:t>
            </a:r>
            <a:r>
              <a:rPr b="1" dirty="0" sz="5000" kern="0" spc="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5000" kern="0" spc="-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endParaRPr dirty="0" sz="5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1311"/>
              </a:spcBef>
            </a:pPr>
            <a:r>
              <a:rPr dirty="0" sz="38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Handle  mi</a:t>
            </a:r>
            <a:r>
              <a:rPr dirty="0" sz="38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ssing  IDs,cancellations,invalid  values,and  duplicate  records.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  <a:spcBef>
                <a:spcPts val="1508"/>
              </a:spcBef>
            </a:pPr>
            <a:r>
              <a:rPr b="1" dirty="0" sz="50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3.Engineer Features</a:t>
            </a:r>
            <a:endParaRPr dirty="0" sz="5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2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5"/>
              </a:spcBef>
            </a:pPr>
            <a:r>
              <a:rPr dirty="0" sz="38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Calculate  Recency,Frequency,and  Monetary(RFM)variables</a:t>
            </a:r>
            <a:r>
              <a:rPr dirty="0" sz="3800" kern="0" spc="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38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dirty="0" sz="38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dirty="0" sz="3800" kern="0" spc="1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38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each</a:t>
            </a:r>
            <a:r>
              <a:rPr dirty="0" sz="3800" kern="0" spc="1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38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customer.</a:t>
            </a:r>
            <a:endParaRPr dirty="0" sz="3800">
              <a:latin typeface="Arial"/>
              <a:ea typeface="Arial"/>
              <a:cs typeface="Arial"/>
            </a:endParaRPr>
          </a:p>
        </p:txBody>
      </p:sp>
      <p:sp>
        <p:nvSpPr>
          <p:cNvPr id="1048583" name="textbox 18"/>
          <p:cNvSpPr/>
          <p:nvPr/>
        </p:nvSpPr>
        <p:spPr>
          <a:xfrm>
            <a:off x="1593717" y="1344248"/>
            <a:ext cx="12037694" cy="196405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916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</a:t>
            </a:r>
            <a:r>
              <a:rPr b="1" dirty="0" sz="3300" kern="0" spc="18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</a:t>
            </a:r>
            <a:r>
              <a:rPr b="1" dirty="0" sz="33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ECTIVES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2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2000"/>
              </a:lnSpc>
              <a:spcBef>
                <a:spcPts val="1"/>
              </a:spcBef>
            </a:pPr>
            <a:r>
              <a:rPr b="1" dirty="0" sz="8400" kern="0" spc="-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 core analytical g</a:t>
            </a:r>
            <a:r>
              <a:rPr b="1" dirty="0" sz="8400" kern="0" spc="-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oals.</a:t>
            </a:r>
            <a:endParaRPr dirty="0" sz="8400">
              <a:latin typeface="Arial"/>
              <a:ea typeface="Arial"/>
              <a:cs typeface="Arial"/>
            </a:endParaRPr>
          </a:p>
        </p:txBody>
      </p:sp>
      <p:pic>
        <p:nvPicPr>
          <p:cNvPr id="2097153" name="picture 2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2400360" y="12934919"/>
            <a:ext cx="1676318" cy="1733519"/>
          </a:xfrm>
          <a:prstGeom prst="rect"/>
        </p:spPr>
      </p:pic>
      <p:pic>
        <p:nvPicPr>
          <p:cNvPr id="2097154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2387681" y="4845037"/>
            <a:ext cx="1688998" cy="1695481"/>
          </a:xfrm>
          <a:prstGeom prst="rect"/>
        </p:spPr>
      </p:pic>
      <p:pic>
        <p:nvPicPr>
          <p:cNvPr id="2097155" name="picture 24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21600000">
            <a:off x="2387681" y="8908999"/>
            <a:ext cx="1688998" cy="1695481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16859098" y="4025920"/>
            <a:ext cx="14052664" cy="12611039"/>
          </a:xfrm>
          <a:prstGeom prst="rect"/>
        </p:spPr>
      </p:pic>
      <p:sp>
        <p:nvSpPr>
          <p:cNvPr id="1048584" name="textbox 28"/>
          <p:cNvSpPr/>
          <p:nvPr/>
        </p:nvSpPr>
        <p:spPr>
          <a:xfrm>
            <a:off x="1517639" y="1344248"/>
            <a:ext cx="13736319" cy="741235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916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-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SOURC</a:t>
            </a:r>
            <a:r>
              <a:rPr b="1" dirty="0" sz="3300" kern="0" spc="-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8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  <a:spcBef>
                <a:spcPts val="2346"/>
              </a:spcBef>
            </a:pPr>
            <a:r>
              <a:rPr b="1" dirty="0" sz="7800" kern="0" spc="-1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UCI Online</a:t>
            </a:r>
            <a:r>
              <a:rPr b="1" dirty="0" sz="7800" kern="0" spc="5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7800" kern="0" spc="-1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</a:t>
            </a:r>
            <a:r>
              <a:rPr b="1" dirty="0" sz="7800" kern="0" spc="5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7800" kern="0" spc="-1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Dataset.</a:t>
            </a:r>
            <a:endParaRPr dirty="0" sz="7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0000"/>
              </a:lnSpc>
              <a:spcBef>
                <a:spcPts val="1297"/>
              </a:spcBef>
            </a:pP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dataset contains all transactions bet</a:t>
            </a:r>
            <a:r>
              <a:rPr dirty="0" sz="4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ween</a:t>
            </a:r>
            <a:r>
              <a:rPr dirty="0" sz="4300" kern="0" spc="3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</a:t>
            </a:r>
            <a:r>
              <a:rPr dirty="0" sz="4300" kern="0" spc="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dirty="0" sz="4300" kern="0" spc="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 2011 for a</a:t>
            </a:r>
            <a:r>
              <a:rPr dirty="0" sz="4300" kern="0" spc="3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UK-based online retailer.I</a:t>
            </a:r>
            <a:r>
              <a:rPr dirty="0" sz="43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dirty="0" sz="4300" kern="0" spc="2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dirty="0" sz="4300" kern="0" spc="2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highly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suitable</a:t>
            </a:r>
            <a:r>
              <a:rPr dirty="0" sz="4300" kern="0" spc="4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because</a:t>
            </a:r>
            <a:r>
              <a:rPr dirty="0" sz="4300" kern="0" spc="4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dirty="0" sz="4300" kern="0" spc="4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provides transaction-level</a:t>
            </a:r>
            <a:r>
              <a:rPr dirty="0" sz="4300" kern="0" spc="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dirty="0" sz="43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929"/>
              </a:lnSpc>
            </a:pP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required</a:t>
            </a:r>
            <a:r>
              <a:rPr dirty="0" sz="43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dirty="0" sz="4300" kern="0" spc="4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</a:t>
            </a:r>
            <a:r>
              <a:rPr dirty="0" sz="4300" kern="0" spc="4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RFM</a:t>
            </a:r>
            <a:r>
              <a:rPr dirty="0" sz="43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r>
              <a:rPr dirty="0" sz="43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dirty="0" sz="4300" kern="0" spc="2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scratch</a:t>
            </a:r>
            <a:r>
              <a:rPr dirty="0" sz="43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dirty="0" sz="4300">
              <a:latin typeface="Arial"/>
              <a:ea typeface="Arial"/>
              <a:cs typeface="Arial"/>
            </a:endParaRPr>
          </a:p>
        </p:txBody>
      </p:sp>
      <p:sp>
        <p:nvSpPr>
          <p:cNvPr id="1048585" name="textbox 30"/>
          <p:cNvSpPr/>
          <p:nvPr/>
        </p:nvSpPr>
        <p:spPr>
          <a:xfrm>
            <a:off x="1517639" y="10130217"/>
            <a:ext cx="3879215" cy="502792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00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1000"/>
              </a:lnSpc>
              <a:spcBef>
                <a:spcPts val="1"/>
              </a:spcBef>
            </a:pPr>
            <a:r>
              <a:rPr b="1" dirty="0" sz="9100" kern="0" spc="-37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541,909</a:t>
            </a:r>
            <a:endParaRPr dirty="0" sz="9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991"/>
              </a:spcBef>
            </a:pPr>
            <a:r>
              <a:rPr dirty="0" sz="33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Raw</a:t>
            </a:r>
            <a:r>
              <a:rPr dirty="0" sz="3300" kern="0" spc="7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3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rows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2344"/>
              </a:spcBef>
            </a:pPr>
            <a:r>
              <a:rPr b="1" dirty="0" sz="7800" kern="0" spc="-160">
                <a:solidFill>
                  <a:srgbClr val="1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Year</a:t>
            </a:r>
            <a:endParaRPr dirty="0" sz="7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77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dirty="0" sz="3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Timeframe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pic>
        <p:nvPicPr>
          <p:cNvPr id="2097157" name="picture 32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9093281" y="10185319"/>
            <a:ext cx="2832120" cy="990661"/>
          </a:xfrm>
          <a:prstGeom prst="rect"/>
        </p:spPr>
      </p:pic>
      <p:sp>
        <p:nvSpPr>
          <p:cNvPr id="1048586" name="textbox 34"/>
          <p:cNvSpPr/>
          <p:nvPr/>
        </p:nvSpPr>
        <p:spPr>
          <a:xfrm>
            <a:off x="9074078" y="14529598"/>
            <a:ext cx="3949065" cy="60579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4566"/>
              </a:lnSpc>
            </a:pP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Variables</a:t>
            </a:r>
            <a:r>
              <a:rPr dirty="0" sz="3300" kern="0" spc="6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</a:t>
            </a:r>
            <a:r>
              <a:rPr dirty="0" sz="3300" kern="0" spc="5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</a:t>
            </a:r>
            <a:r>
              <a:rPr dirty="0" sz="3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rd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sp>
        <p:nvSpPr>
          <p:cNvPr id="1048587" name="textbox 36"/>
          <p:cNvSpPr/>
          <p:nvPr/>
        </p:nvSpPr>
        <p:spPr>
          <a:xfrm>
            <a:off x="9093260" y="11627080"/>
            <a:ext cx="3509645" cy="43624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331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dirty="0" sz="3300" kern="0" spc="8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</a:t>
            </a:r>
            <a:r>
              <a:rPr dirty="0" sz="3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omers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pic>
        <p:nvPicPr>
          <p:cNvPr id="2097158" name="picture 3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21600000">
            <a:off x="9086779" y="13220760"/>
            <a:ext cx="749401" cy="838139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4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/>
        </p:spPr>
      </p:pic>
      <p:sp>
        <p:nvSpPr>
          <p:cNvPr id="1048588" name="textbox 42"/>
          <p:cNvSpPr/>
          <p:nvPr/>
        </p:nvSpPr>
        <p:spPr>
          <a:xfrm>
            <a:off x="1555678" y="1368483"/>
            <a:ext cx="29018228" cy="425069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848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</a:pPr>
            <a:r>
              <a:rPr b="1" dirty="0" sz="3100" kern="0" spc="-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b="1" dirty="0" sz="3100" kern="0" spc="26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b="1" dirty="0" sz="3100" kern="0" spc="-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COLLECTION</a:t>
            </a:r>
            <a:endParaRPr dirty="0" sz="3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5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  <a:spcBef>
                <a:spcPts val="2529"/>
              </a:spcBef>
            </a:pPr>
            <a:r>
              <a:rPr b="1" dirty="0" sz="84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Evidence of procurement.</a:t>
            </a:r>
            <a:endParaRPr dirty="0" sz="84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6000"/>
              </a:lnSpc>
              <a:spcBef>
                <a:spcPts val="1"/>
              </a:spcBef>
            </a:pP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dirty="0" sz="4100" kern="0" spc="10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successfully</a:t>
            </a:r>
            <a:r>
              <a:rPr dirty="0" sz="4100" kern="0" spc="10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downloaded</a:t>
            </a:r>
            <a:r>
              <a:rPr dirty="0" sz="4100" kern="0" spc="9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dirty="0" sz="4100" kern="0" spc="10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dirty="0" sz="4100" kern="0" spc="9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local</a:t>
            </a:r>
            <a:r>
              <a:rPr dirty="0" sz="4100" kern="0" spc="10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disk</a:t>
            </a:r>
            <a:r>
              <a:rPr dirty="0" sz="4100" kern="0" spc="10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storage  in  both</a:t>
            </a:r>
            <a:r>
              <a:rPr dirty="0" sz="4100" kern="0" spc="9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xlsx  and  .csv  formats.The  .csv  file</a:t>
            </a:r>
            <a:r>
              <a:rPr dirty="0" sz="41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  primarily</a:t>
            </a:r>
            <a:r>
              <a:rPr dirty="0" sz="41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utilized</a:t>
            </a:r>
            <a:r>
              <a:rPr dirty="0" sz="4100" kern="0" spc="9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  EDA</a:t>
            </a:r>
            <a:r>
              <a:rPr dirty="0" sz="4100" kern="0" spc="9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tasks</a:t>
            </a:r>
            <a:r>
              <a:rPr dirty="0" sz="4100" kern="0" spc="9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within  our</a:t>
            </a:r>
            <a:r>
              <a:rPr dirty="0" sz="4100" kern="0" spc="9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Jupyter  Notebook 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environment.</a:t>
            </a:r>
            <a:endParaRPr dirty="0" sz="4100">
              <a:latin typeface="Arial"/>
              <a:ea typeface="Arial"/>
              <a:cs typeface="Arial"/>
            </a:endParaRPr>
          </a:p>
        </p:txBody>
      </p:sp>
      <p:sp>
        <p:nvSpPr>
          <p:cNvPr id="1048589" name="textbox 44"/>
          <p:cNvSpPr/>
          <p:nvPr/>
        </p:nvSpPr>
        <p:spPr>
          <a:xfrm>
            <a:off x="8604301" y="10928360"/>
            <a:ext cx="21628100" cy="3105150"/>
          </a:xfrm>
          <a:prstGeom prst="rect"/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1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393700" rtl="0">
              <a:lnSpc>
                <a:spcPct val="79000"/>
              </a:lnSpc>
              <a:spcBef>
                <a:spcPts val="6"/>
              </a:spcBef>
            </a:pPr>
            <a:r>
              <a:rPr dirty="0" sz="4100" kern="0" spc="-1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Loaded</a:t>
            </a:r>
            <a:r>
              <a:rPr dirty="0" sz="4100" kern="0" spc="15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dirty="0" sz="4100" kern="0" spc="-1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dirty="0" sz="4100" kern="0" spc="21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dirty="0" sz="4100" kern="0" spc="-1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encoding=</a:t>
            </a:r>
            <a:r>
              <a:rPr dirty="0" sz="4100" kern="0" spc="-20">
                <a:solidFill>
                  <a:srgbClr val="30D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'utf-8'</a:t>
            </a:r>
            <a:endParaRPr dirty="0" sz="4100">
              <a:latin typeface="Times New Roman"/>
              <a:ea typeface="Times New Roman"/>
              <a:cs typeface="Times New Roman"/>
            </a:endParaRPr>
          </a:p>
          <a:p>
            <a:pPr algn="l" eaLnBrk="0" rtl="0">
              <a:lnSpc>
                <a:spcPct val="11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393700" rtl="0">
              <a:lnSpc>
                <a:spcPct val="79000"/>
              </a:lnSpc>
              <a:spcBef>
                <a:spcPts val="1242"/>
              </a:spcBef>
            </a:pPr>
            <a:r>
              <a:rPr dirty="0" sz="4100" kern="0" spc="-20">
                <a:solidFill>
                  <a:srgbClr val="C05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Dataset     s</a:t>
            </a:r>
            <a:r>
              <a:rPr dirty="0" sz="4100" kern="0" spc="-30">
                <a:solidFill>
                  <a:srgbClr val="C05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hape:541,909</a:t>
            </a:r>
            <a:r>
              <a:rPr dirty="0" sz="4100" kern="0" spc="200">
                <a:solidFill>
                  <a:srgbClr val="C05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dirty="0" sz="4100" kern="0" spc="-30">
                <a:solidFill>
                  <a:srgbClr val="C05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rows×</a:t>
            </a:r>
            <a:r>
              <a:rPr dirty="0" sz="4100" kern="0" spc="440">
                <a:solidFill>
                  <a:srgbClr val="C05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dirty="0" sz="4100" kern="0" spc="-30">
                <a:solidFill>
                  <a:srgbClr val="C06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  </a:t>
            </a:r>
            <a:r>
              <a:rPr dirty="0" sz="4100" kern="0" spc="-30">
                <a:solidFill>
                  <a:srgbClr val="A06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columns</a:t>
            </a:r>
            <a:endParaRPr dirty="0" sz="4100">
              <a:latin typeface="Times New Roman"/>
              <a:ea typeface="Times New Roman"/>
              <a:cs typeface="Times New Roman"/>
            </a:endParaRPr>
          </a:p>
          <a:p>
            <a:pPr algn="l" eaLnBrk="0" rtl="0">
              <a:lnSpc>
                <a:spcPct val="19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700">
              <a:latin typeface="Arial"/>
              <a:ea typeface="Arial"/>
              <a:cs typeface="Arial"/>
            </a:endParaRPr>
          </a:p>
          <a:p>
            <a:pPr algn="l" eaLnBrk="0" marL="393700" rtl="0">
              <a:lnSpc>
                <a:spcPts val="4225"/>
              </a:lnSpc>
              <a:spcBef>
                <a:spcPts val="5"/>
              </a:spcBef>
            </a:pPr>
            <a:r>
              <a:rPr dirty="0" sz="3100" kern="0" spc="-4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Memory</a:t>
            </a:r>
            <a:r>
              <a:rPr dirty="0" sz="3100" kern="0" spc="12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dirty="0" sz="3100" kern="0" spc="-4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usage:  </a:t>
            </a:r>
            <a:r>
              <a:rPr dirty="0" sz="3100" kern="0" spc="-40">
                <a:solidFill>
                  <a:srgbClr val="C05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183.71    </a:t>
            </a:r>
            <a:r>
              <a:rPr dirty="0" sz="3100" kern="0" spc="-50">
                <a:solidFill>
                  <a:srgbClr val="C05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MB</a:t>
            </a:r>
            <a:endParaRPr dirty="0" sz="3100">
              <a:latin typeface="Arial"/>
              <a:ea typeface="Arial"/>
              <a:cs typeface="Arial"/>
            </a:endParaRPr>
          </a:p>
        </p:txBody>
      </p:sp>
      <p:sp>
        <p:nvSpPr>
          <p:cNvPr id="1048590" name="textbox 46"/>
          <p:cNvSpPr/>
          <p:nvPr/>
        </p:nvSpPr>
        <p:spPr>
          <a:xfrm>
            <a:off x="8559738" y="7186937"/>
            <a:ext cx="8331200" cy="311594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6938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79000"/>
              </a:lnSpc>
            </a:pPr>
            <a:r>
              <a:rPr dirty="0" sz="4100" kern="0" spc="-10">
                <a:solidFill>
                  <a:srgbClr val="40A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</a:t>
            </a:r>
            <a:r>
              <a:rPr dirty="0" sz="4100" kern="0" spc="210">
                <a:solidFill>
                  <a:srgbClr val="40A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dirty="0" sz="4100" kern="0" spc="-10">
                <a:solidFill>
                  <a:srgbClr val="40A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pandas   </a:t>
            </a:r>
            <a:r>
              <a:rPr dirty="0" sz="4100" kern="0" spc="-10">
                <a:solidFill>
                  <a:srgbClr val="30B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dirty="0" sz="4100" kern="0" spc="210">
                <a:solidFill>
                  <a:srgbClr val="30B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dirty="0" sz="4100" kern="0" spc="-10">
                <a:solidFill>
                  <a:srgbClr val="30B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pd</a:t>
            </a:r>
            <a:endParaRPr dirty="0" sz="4100">
              <a:latin typeface="Times New Roman"/>
              <a:ea typeface="Times New Roman"/>
              <a:cs typeface="Times New Roman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588"/>
              </a:lnSpc>
              <a:spcBef>
                <a:spcPts val="1237"/>
              </a:spcBef>
            </a:pPr>
            <a:r>
              <a:rPr dirty="0" sz="4100" kern="0" spc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&gt;print('Descriptive            s</a:t>
            </a:r>
            <a:r>
              <a:rPr dirty="0" sz="41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tatistics:')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89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588"/>
              </a:lnSpc>
            </a:pPr>
            <a:r>
              <a:rPr dirty="0" sz="41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&gt;display(raw.describe().T</a:t>
            </a:r>
            <a:r>
              <a:rPr dirty="0" sz="4100" kern="0" spc="-2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dirty="0" sz="4100">
              <a:latin typeface="Arial"/>
              <a:ea typeface="Arial"/>
              <a:cs typeface="Arial"/>
            </a:endParaRPr>
          </a:p>
        </p:txBody>
      </p:sp>
      <p:sp>
        <p:nvSpPr>
          <p:cNvPr id="1048591" name="textbox 48"/>
          <p:cNvSpPr/>
          <p:nvPr/>
        </p:nvSpPr>
        <p:spPr>
          <a:xfrm>
            <a:off x="2019300" y="7013232"/>
            <a:ext cx="4837429" cy="263842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010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6000"/>
              </a:lnSpc>
            </a:pPr>
            <a:r>
              <a:rPr dirty="0" sz="2900" kern="0" spc="-1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EXPLORER</a:t>
            </a:r>
            <a:endParaRPr dirty="0" sz="29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584200" rtl="0">
              <a:lnSpc>
                <a:spcPct val="81000"/>
              </a:lnSpc>
              <a:spcBef>
                <a:spcPts val="1210"/>
              </a:spcBef>
            </a:pPr>
            <a:r>
              <a:rPr dirty="0" sz="4000" kern="0" spc="-13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G3</a:t>
            </a:r>
            <a:r>
              <a:rPr dirty="0" sz="4000" kern="0" spc="-130" u="dotted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dirty="0" sz="4000" kern="0" spc="-13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Project</a:t>
            </a:r>
            <a:endParaRPr dirty="0" sz="4000">
              <a:latin typeface="Times New Roman"/>
              <a:ea typeface="Times New Roman"/>
              <a:cs typeface="Times New Roman"/>
            </a:endParaRPr>
          </a:p>
          <a:p>
            <a:pPr algn="l" eaLnBrk="0" rtl="0">
              <a:lnSpc>
                <a:spcPct val="15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066164" rtl="0">
              <a:lnSpc>
                <a:spcPct val="79000"/>
              </a:lnSpc>
              <a:spcBef>
                <a:spcPts val="1089"/>
              </a:spcBef>
            </a:pPr>
            <a:r>
              <a:rPr dirty="0" sz="3600" kern="0" spc="0">
                <a:solidFill>
                  <a:srgbClr val="2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Online</a:t>
            </a:r>
            <a:r>
              <a:rPr dirty="0" sz="3600" kern="0" spc="190">
                <a:solidFill>
                  <a:srgbClr val="2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dirty="0" sz="3600" kern="0" spc="0">
                <a:solidFill>
                  <a:srgbClr val="2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Retail</a:t>
            </a:r>
            <a:r>
              <a:rPr dirty="0" sz="3600" kern="0" spc="110">
                <a:solidFill>
                  <a:srgbClr val="2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dirty="0" sz="3600" kern="0" spc="0">
                <a:solidFill>
                  <a:srgbClr val="207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csv</a:t>
            </a:r>
            <a:endParaRPr dirty="0" sz="3600">
              <a:latin typeface="Times New Roman"/>
              <a:ea typeface="Times New Roman"/>
              <a:cs typeface="Times New Roman"/>
            </a:endParaRPr>
          </a:p>
          <a:p>
            <a:pPr algn="l" eaLnBrk="0" rtl="0">
              <a:lnSpc>
                <a:spcPct val="100000"/>
              </a:lnSpc>
            </a:pPr>
            <a:endParaRPr dirty="0" sz="1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7665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79000"/>
              </a:lnSpc>
            </a:pPr>
            <a:r>
              <a:rPr dirty="0" sz="3100" kern="0" spc="0">
                <a:solidFill>
                  <a:srgbClr val="30D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   </a:t>
            </a:r>
            <a:r>
              <a:rPr dirty="0" sz="3100" kern="0" spc="0">
                <a:solidFill>
                  <a:srgbClr val="3088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Online          </a:t>
            </a:r>
            <a:r>
              <a:rPr dirty="0" sz="3100" kern="0" spc="-10">
                <a:solidFill>
                  <a:srgbClr val="3088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Retail.xlsx</a:t>
            </a:r>
            <a:endParaRPr dirty="0" sz="31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24" name="group 2"/>
          <p:cNvGrpSpPr/>
          <p:nvPr/>
        </p:nvGrpSpPr>
        <p:grpSpPr>
          <a:xfrm rot="21600000">
            <a:off x="2571699" y="9715500"/>
            <a:ext cx="4997418" cy="571500"/>
            <a:chOff x="0" y="0"/>
            <a:chExt cx="4997418" cy="571500"/>
          </a:xfrm>
        </p:grpSpPr>
        <p:pic>
          <p:nvPicPr>
            <p:cNvPr id="2097160" name="picture 50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 rot="21600000">
              <a:off x="0" y="0"/>
              <a:ext cx="4997418" cy="571500"/>
            </a:xfrm>
            <a:prstGeom prst="rect"/>
          </p:spPr>
        </p:pic>
        <p:sp>
          <p:nvSpPr>
            <p:cNvPr id="1048592" name="textbox 52"/>
            <p:cNvSpPr/>
            <p:nvPr/>
          </p:nvSpPr>
          <p:spPr>
            <a:xfrm>
              <a:off x="-12700" y="-12700"/>
              <a:ext cx="5022850" cy="621665"/>
            </a:xfrm>
            <a:prstGeom prst="rect"/>
            <a:noFill/>
            <a:ln w="0" cap="flat">
              <a:noFill/>
              <a:prstDash val="solid"/>
              <a:miter lim="0"/>
            </a:ln>
          </p:spPr>
          <p:txBody>
            <a:bodyPr bIns="0" lIns="0" rIns="0" tIns="0" vert="horz" wrap="square"/>
            <a:p>
              <a:pPr algn="l" eaLnBrk="0" rtl="0">
                <a:lnSpc>
                  <a:spcPct val="110000"/>
                </a:lnSpc>
              </a:pPr>
              <a:endParaRPr dirty="0" sz="100">
                <a:latin typeface="Arial"/>
                <a:ea typeface="Arial"/>
                <a:cs typeface="Arial"/>
              </a:endParaRPr>
            </a:p>
            <a:p>
              <a:pPr algn="l" eaLnBrk="0" marL="584200" rtl="0">
                <a:lnSpc>
                  <a:spcPct val="116000"/>
                </a:lnSpc>
                <a:spcBef>
                  <a:spcPts val="1"/>
                </a:spcBef>
              </a:pPr>
              <a:r>
                <a:rPr dirty="0" sz="3100" kern="0" spc="-20">
                  <a:solidFill>
                    <a:srgbClr val="D090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EDA</a:t>
              </a:r>
              <a:r>
                <a:rPr dirty="0" sz="3100" kern="0" spc="-20" u="dotted">
                  <a:solidFill>
                    <a:srgbClr val="D09060">
                      <a:alpha val="100000"/>
                    </a:srgbClr>
                  </a:solidFill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</a:rPr>
                <a:t>  </a:t>
              </a:r>
              <a:r>
                <a:rPr dirty="0" sz="3100" kern="0" spc="-800">
                  <a:solidFill>
                    <a:srgbClr val="D090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dirty="0" sz="3100" kern="0" spc="-20">
                  <a:solidFill>
                    <a:srgbClr val="D090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Jupyter.ipynb</a:t>
              </a:r>
              <a:endParaRPr dirty="0" sz="310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54"/>
          <p:cNvGraphicFramePr>
            <a:graphicFrameLocks noGrp="1"/>
          </p:cNvGraphicFramePr>
          <p:nvPr/>
        </p:nvGraphicFramePr>
        <p:xfrm>
          <a:off x="1606418" y="6429444"/>
          <a:ext cx="29248103" cy="9587865"/>
        </p:xfrm>
        <a:graphic>
          <a:graphicData uri="http://schemas.openxmlformats.org/drawingml/2006/table">
            <a:tbl>
              <a:tblPr/>
              <a:tblGrid>
                <a:gridCol w="5149850"/>
                <a:gridCol w="8287384"/>
                <a:gridCol w="10070465"/>
                <a:gridCol w="5740400"/>
              </a:tblGrid>
              <a:tr h="1342389">
                <a:tc>
                  <a:txBody>
                    <a:bodyPr/>
                    <a:p>
                      <a:pPr algn="l" eaLnBrk="0" rtl="0">
                        <a:lnSpc>
                          <a:spcPct val="12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621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4500" rtl="0">
                        <a:lnSpc>
                          <a:spcPct val="79000"/>
                        </a:lnSpc>
                      </a:pP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Feature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30450" rtl="0">
                        <a:lnSpc>
                          <a:spcPct val="79000"/>
                        </a:lnSpc>
                        <a:spcBef>
                          <a:spcPts val="3"/>
                        </a:spcBef>
                      </a:pP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DType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619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69765" rtl="0">
                        <a:lnSpc>
                          <a:spcPct val="81000"/>
                        </a:lnSpc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Non-Null</a:t>
                      </a:r>
                      <a:r>
                        <a:rPr dirty="0" sz="3400" kern="0" spc="3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Cou</a:t>
                      </a: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nt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4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4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718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546350" rtl="0">
                        <a:lnSpc>
                          <a:spcPct val="94000"/>
                        </a:lnSpc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Unique</a:t>
                      </a:r>
                      <a:r>
                        <a:rPr dirty="0" sz="3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Value</a:t>
                      </a: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0">
                <a:tc>
                  <a:txBody>
                    <a:bodyPr/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InvoiceNo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09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302"/>
                        </a:lnSpc>
                      </a:pPr>
                      <a:r>
                        <a:rPr dirty="0" sz="34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216015" rtl="0">
                        <a:lnSpc>
                          <a:spcPts val="4289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541909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292600" rtl="0">
                        <a:lnSpc>
                          <a:spcPts val="4289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25900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0"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StockCode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302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216015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541909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514850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4070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0">
                <a:tc>
                  <a:txBody>
                    <a:bodyPr/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45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ct val="79000"/>
                        </a:lnSpc>
                      </a:pPr>
                      <a:r>
                        <a:rPr dirty="0" sz="3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Description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8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302"/>
                        </a:lnSpc>
                      </a:pPr>
                      <a:r>
                        <a:rPr dirty="0" sz="34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739765" rtl="0">
                        <a:lnSpc>
                          <a:spcPts val="4289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540455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09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514850" rtl="0">
                        <a:lnSpc>
                          <a:spcPts val="4289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4223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0">
                <a:tc>
                  <a:txBody>
                    <a:bodyPr/>
                    <a:p>
                      <a:pPr algn="l" eaLnBrk="0" rtl="0">
                        <a:lnSpc>
                          <a:spcPct val="12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Quantity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int64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216015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541909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730750" rtl="0">
                        <a:lnSpc>
                          <a:spcPts val="4289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722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0">
                <a:tc>
                  <a:txBody>
                    <a:bodyPr/>
                    <a:p>
                      <a:pPr algn="l" eaLnBrk="0" rtl="0">
                        <a:lnSpc>
                          <a:spcPct val="12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ct val="79000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UnitPrice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04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289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float64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04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216015" rtl="0">
                        <a:lnSpc>
                          <a:spcPts val="4289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541909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604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514850" rtl="0">
                        <a:lnSpc>
                          <a:spcPts val="4289"/>
                        </a:lnSpc>
                      </a:pPr>
                      <a:r>
                        <a:rPr dirty="0" sz="34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1630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2875">
                <a:tc>
                  <a:txBody>
                    <a:bodyPr/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8150" rtl="0">
                        <a:lnSpc>
                          <a:spcPct val="81000"/>
                        </a:lnSpc>
                        <a:spcBef>
                          <a:spcPts val="2"/>
                        </a:spcBef>
                      </a:pPr>
                      <a:r>
                        <a:rPr dirty="0" sz="3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CustomerlD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29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324100" rtl="0">
                        <a:lnSpc>
                          <a:spcPts val="4289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float64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29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675629" rtl="0">
                        <a:lnSpc>
                          <a:spcPts val="4289"/>
                        </a:lnSpc>
                      </a:pPr>
                      <a:r>
                        <a:rPr dirty="0" sz="3400" kern="0" spc="0">
                          <a:solidFill>
                            <a:srgbClr val="E05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406829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29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514850" rtl="0">
                        <a:lnSpc>
                          <a:spcPts val="4289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4372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93" name="textbox 56"/>
          <p:cNvSpPr/>
          <p:nvPr/>
        </p:nvSpPr>
        <p:spPr>
          <a:xfrm>
            <a:off x="1574860" y="1344669"/>
            <a:ext cx="29103321" cy="427609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771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INITIAL</a:t>
            </a:r>
            <a:r>
              <a:rPr b="1" dirty="0" sz="3300" kern="0" spc="38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b="1" dirty="0" sz="3300" kern="0" spc="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EXAMINATIO</a:t>
            </a:r>
            <a:r>
              <a:rPr b="1" dirty="0" sz="3300" kern="0" spc="-1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3635"/>
              </a:spcBef>
            </a:pPr>
            <a:r>
              <a:rPr b="1" dirty="0" sz="8300" kern="0" spc="-1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 f</a:t>
            </a:r>
            <a:r>
              <a:rPr b="1" dirty="0" sz="8300" kern="0" spc="-1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eatures and shape.</a:t>
            </a:r>
            <a:endParaRPr dirty="0" sz="8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9000"/>
              </a:lnSpc>
              <a:spcBef>
                <a:spcPts val="6"/>
              </a:spcBef>
            </a:pP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dirty="0" sz="4200" kern="0" spc="10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initial</a:t>
            </a:r>
            <a:r>
              <a:rPr dirty="0" sz="4200" kern="0" spc="1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review</a:t>
            </a:r>
            <a:r>
              <a:rPr dirty="0" sz="4200" kern="0" spc="9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irmed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dirty="0" sz="4200" kern="0" spc="9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</a:t>
            </a:r>
            <a:r>
              <a:rPr dirty="0" sz="4200" kern="0" spc="9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dirty="0" sz="4200" kern="0" spc="7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dirty="0" sz="4200" kern="0" spc="9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data.The</a:t>
            </a:r>
            <a:r>
              <a:rPr dirty="0" sz="4200" kern="0" spc="9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dirty="0" sz="4200" kern="0" spc="1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transaction-level,meaning</a:t>
            </a:r>
            <a:r>
              <a:rPr dirty="0" sz="4200" kern="0" spc="1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multiple</a:t>
            </a:r>
            <a:r>
              <a:rPr dirty="0" sz="4200" kern="0" spc="1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rows</a:t>
            </a:r>
            <a:r>
              <a:rPr dirty="0" sz="4200" kern="0" spc="1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belong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dirty="0" sz="4200" kern="0" spc="10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same  invoice  and  customer.Customer-level</a:t>
            </a:r>
            <a:r>
              <a:rPr dirty="0" sz="4200" kern="0" spc="10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aggregatio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  is  required.</a:t>
            </a:r>
            <a:endParaRPr dirty="0" sz="42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5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/>
        </p:spPr>
      </p:pic>
      <p:sp>
        <p:nvSpPr>
          <p:cNvPr id="1048594" name="textbox 60"/>
          <p:cNvSpPr/>
          <p:nvPr/>
        </p:nvSpPr>
        <p:spPr>
          <a:xfrm>
            <a:off x="1555678" y="6928876"/>
            <a:ext cx="12478384" cy="697484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5445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26000"/>
              </a:lnSpc>
            </a:pP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Missing</a:t>
            </a:r>
            <a:r>
              <a:rPr dirty="0" sz="4200" kern="0" spc="10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CustomerlDs</a:t>
            </a:r>
            <a:r>
              <a:rPr dirty="0" sz="4200" kern="0" spc="10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represe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r>
              <a:rPr dirty="0" sz="4200" kern="0" spc="8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dirty="0" sz="4200" kern="0" spc="10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primary</a:t>
            </a:r>
            <a:r>
              <a:rPr dirty="0" sz="4200" kern="0" spc="9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dirty="0" sz="4200" kern="0" spc="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issue.Approximately  25%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dirty="0" sz="4200" kern="0" spc="2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records   lack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dirty="0" sz="4200" kern="0" spc="4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fier.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5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20000"/>
              </a:lnSpc>
              <a:spcBef>
                <a:spcPts val="1267"/>
              </a:spcBef>
            </a:pPr>
            <a:r>
              <a:rPr dirty="0" sz="42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Because our </a:t>
            </a:r>
            <a:r>
              <a:rPr dirty="0" sz="4200" kern="0" spc="-1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 is customer-level segmentation,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dirty="0" sz="4200" kern="0" spc="-1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transactions without</a:t>
            </a:r>
            <a:r>
              <a:rPr dirty="0" sz="4200" kern="0" spc="2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IDs cannot </a:t>
            </a:r>
            <a:r>
              <a:rPr dirty="0" sz="4200" kern="0" spc="-1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reliably</a:t>
            </a:r>
            <a:r>
              <a:rPr dirty="0" sz="4200" kern="0" spc="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associated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dirty="0" sz="41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an</a:t>
            </a:r>
            <a:r>
              <a:rPr dirty="0" sz="4100" kern="0" spc="1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</a:t>
            </a:r>
            <a:r>
              <a:rPr dirty="0" sz="41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idual.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1000"/>
              </a:lnSpc>
              <a:spcBef>
                <a:spcPts val="1268"/>
              </a:spcBef>
            </a:pPr>
            <a:r>
              <a:rPr b="1" dirty="0" sz="4200" kern="0" spc="-6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Action:Exclude</a:t>
            </a:r>
            <a:r>
              <a:rPr b="1" dirty="0" sz="4200" kern="0" spc="29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4200" kern="0" spc="-6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135,080 orphaned rows fr</a:t>
            </a:r>
            <a:r>
              <a:rPr b="1" dirty="0" sz="4200" kern="0" spc="-7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om the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marL="533400" rtl="0">
              <a:lnSpc>
                <a:spcPct val="80000"/>
              </a:lnSpc>
              <a:spcBef>
                <a:spcPts val="862"/>
              </a:spcBef>
            </a:pPr>
            <a:r>
              <a:rPr b="1" dirty="0" sz="4200" kern="0" spc="-70">
                <a:solidFill>
                  <a:srgbClr val="208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analysis.</a:t>
            </a:r>
            <a:endParaRPr dirty="0" sz="4200">
              <a:latin typeface="Arial"/>
              <a:ea typeface="Arial"/>
              <a:cs typeface="Arial"/>
            </a:endParaRPr>
          </a:p>
        </p:txBody>
      </p:sp>
      <p:pic>
        <p:nvPicPr>
          <p:cNvPr id="2097162" name="picture 62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18827698" y="6762720"/>
            <a:ext cx="3689461" cy="7124820"/>
          </a:xfrm>
          <a:prstGeom prst="rect"/>
        </p:spPr>
      </p:pic>
      <p:sp>
        <p:nvSpPr>
          <p:cNvPr id="1048595" name="textbox 64"/>
          <p:cNvSpPr/>
          <p:nvPr/>
        </p:nvSpPr>
        <p:spPr>
          <a:xfrm>
            <a:off x="1555678" y="1357185"/>
            <a:ext cx="10429875" cy="201993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84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b="1" dirty="0" sz="3300" kern="0" spc="5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6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2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39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2000"/>
              </a:lnSpc>
            </a:pPr>
            <a:r>
              <a:rPr b="1" dirty="0" sz="8100" kern="0" spc="-2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Missing C</a:t>
            </a:r>
            <a:r>
              <a:rPr b="1" dirty="0" sz="81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ustomer</a:t>
            </a:r>
            <a:r>
              <a:rPr b="1" dirty="0" sz="8100" kern="0" spc="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1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IDs.</a:t>
            </a:r>
            <a:endParaRPr dirty="0" sz="8100">
              <a:latin typeface="Arial"/>
              <a:ea typeface="Arial"/>
              <a:cs typeface="Arial"/>
            </a:endParaRPr>
          </a:p>
        </p:txBody>
      </p:sp>
      <p:sp>
        <p:nvSpPr>
          <p:cNvPr id="1048596" name="textbox 66"/>
          <p:cNvSpPr/>
          <p:nvPr/>
        </p:nvSpPr>
        <p:spPr>
          <a:xfrm>
            <a:off x="24682437" y="12735300"/>
            <a:ext cx="2333625" cy="205930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3255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368300" rtl="0">
              <a:lnSpc>
                <a:spcPct val="82000"/>
              </a:lnSpc>
            </a:pPr>
            <a:r>
              <a:rPr b="1"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0.27%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  <a:spcBef>
                <a:spcPts val="2"/>
              </a:spcBef>
            </a:pPr>
            <a:r>
              <a:rPr b="1"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Descriptio</a:t>
            </a:r>
            <a:r>
              <a:rPr b="1" dirty="0" sz="33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sp>
        <p:nvSpPr>
          <p:cNvPr id="1048597" name="textbox 68"/>
          <p:cNvSpPr/>
          <p:nvPr/>
        </p:nvSpPr>
        <p:spPr>
          <a:xfrm>
            <a:off x="19469140" y="6001956"/>
            <a:ext cx="2382520" cy="77596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6605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2000"/>
              </a:lnSpc>
            </a:pPr>
            <a:r>
              <a:rPr b="1" dirty="0" sz="6000" kern="0" spc="-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b="1" dirty="0" sz="6000" kern="0" spc="-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.93</a:t>
            </a:r>
            <a:r>
              <a:rPr b="1" dirty="0" sz="60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dirty="0" sz="6000">
              <a:latin typeface="Arial"/>
              <a:ea typeface="Arial"/>
              <a:cs typeface="Arial"/>
            </a:endParaRPr>
          </a:p>
        </p:txBody>
      </p:sp>
      <p:sp>
        <p:nvSpPr>
          <p:cNvPr id="1048598" name="textbox 70"/>
          <p:cNvSpPr/>
          <p:nvPr/>
        </p:nvSpPr>
        <p:spPr>
          <a:xfrm>
            <a:off x="19469141" y="14343053"/>
            <a:ext cx="2370454" cy="44005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771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CustomerlD</a:t>
            </a:r>
            <a:endParaRPr dirty="0" sz="33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7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/>
        </p:spPr>
      </p:pic>
      <p:sp>
        <p:nvSpPr>
          <p:cNvPr id="1048599" name="textbox 74"/>
          <p:cNvSpPr/>
          <p:nvPr/>
        </p:nvSpPr>
        <p:spPr>
          <a:xfrm>
            <a:off x="18040236" y="7020452"/>
            <a:ext cx="11938634" cy="682053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399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0014" rtl="0">
              <a:lnSpc>
                <a:spcPct val="82000"/>
              </a:lnSpc>
            </a:pPr>
            <a:r>
              <a:rPr b="1" dirty="0" sz="14500" kern="0" spc="-7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0.97%</a:t>
            </a:r>
            <a:endParaRPr dirty="0" sz="145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2434"/>
              </a:spcBef>
            </a:pPr>
            <a:r>
              <a:rPr b="1" dirty="0" sz="4200" kern="0" spc="-10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Proportion of duplica</a:t>
            </a:r>
            <a:r>
              <a:rPr b="1" dirty="0" sz="4200" kern="0" spc="-11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tes.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0000"/>
              </a:lnSpc>
              <a:spcBef>
                <a:spcPts val="1268"/>
              </a:spcBef>
            </a:pPr>
            <a:r>
              <a:rPr dirty="0" sz="42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Though the percentage is small,retaining these</a:t>
            </a:r>
            <a:r>
              <a:rPr dirty="0" sz="4200" kern="0" spc="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exact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2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duplicate records artificially inf</a:t>
            </a:r>
            <a:r>
              <a:rPr dirty="0" sz="42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lates transaction</a:t>
            </a:r>
            <a:r>
              <a:rPr dirty="0" sz="4200" kern="0" spc="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counts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spending </a:t>
            </a:r>
            <a:r>
              <a:rPr dirty="0" sz="4200" kern="0" spc="-1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measures.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735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533400" rtl="0">
              <a:lnSpc>
                <a:spcPct val="81000"/>
              </a:lnSpc>
            </a:pPr>
            <a:r>
              <a:rPr b="1" dirty="0" sz="4200" kern="0" spc="-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Action:Drop all 5,268 duplicates.</a:t>
            </a:r>
            <a:endParaRPr dirty="0" sz="4200">
              <a:latin typeface="Arial"/>
              <a:ea typeface="Arial"/>
              <a:cs typeface="Arial"/>
            </a:endParaRPr>
          </a:p>
        </p:txBody>
      </p:sp>
      <p:sp>
        <p:nvSpPr>
          <p:cNvPr id="1048600" name="textbox 76"/>
          <p:cNvSpPr/>
          <p:nvPr/>
        </p:nvSpPr>
        <p:spPr>
          <a:xfrm>
            <a:off x="1593717" y="1357185"/>
            <a:ext cx="13773785" cy="528383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84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b="1" dirty="0" sz="3300" kern="0" spc="5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endParaRPr dirty="0" sz="33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ts val="12664"/>
              </a:lnSpc>
              <a:spcBef>
                <a:spcPts val="909"/>
              </a:spcBef>
            </a:pPr>
            <a:r>
              <a:rPr b="1" dirty="0" sz="8700" kern="0" spc="-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ldentifying exact duplicates.</a:t>
            </a:r>
            <a:endParaRPr dirty="0" sz="87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3708400" rtl="0">
              <a:lnSpc>
                <a:spcPct val="81000"/>
              </a:lnSpc>
              <a:spcBef>
                <a:spcPts val="7"/>
              </a:spcBef>
            </a:pPr>
            <a:r>
              <a:rPr b="1"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536,641</a:t>
            </a:r>
            <a:endParaRPr dirty="0" sz="4200">
              <a:latin typeface="Arial"/>
              <a:ea typeface="Arial"/>
              <a:cs typeface="Arial"/>
            </a:endParaRPr>
          </a:p>
        </p:txBody>
      </p:sp>
      <p:sp>
        <p:nvSpPr>
          <p:cNvPr id="1048601" name="textbox 78"/>
          <p:cNvSpPr/>
          <p:nvPr/>
        </p:nvSpPr>
        <p:spPr>
          <a:xfrm>
            <a:off x="5537098" y="12746487"/>
            <a:ext cx="6967219" cy="204787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424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5175250" rtl="0">
              <a:lnSpc>
                <a:spcPct val="81000"/>
              </a:lnSpc>
            </a:pPr>
            <a:r>
              <a:rPr b="1" dirty="0" sz="4200" kern="0" spc="-40">
                <a:solidFill>
                  <a:srgbClr val="E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5,268</a:t>
            </a:r>
            <a:endParaRPr dirty="0" sz="4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4000"/>
              </a:lnSpc>
              <a:spcBef>
                <a:spcPts val="3"/>
              </a:spcBef>
            </a:pPr>
            <a:r>
              <a:rPr b="1" dirty="0" sz="3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b="1" dirty="0" sz="3300" kern="0" spc="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b="1" dirty="0" sz="3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b="1" dirty="0" sz="3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Duplicated</a:t>
            </a:r>
            <a:endParaRPr dirty="0" sz="33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box 80"/>
          <p:cNvSpPr/>
          <p:nvPr/>
        </p:nvSpPr>
        <p:spPr>
          <a:xfrm>
            <a:off x="1593717" y="1338166"/>
            <a:ext cx="28956635" cy="423164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84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b="1" dirty="0" sz="3300" kern="0" spc="5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</a:t>
            </a:r>
            <a:r>
              <a:rPr b="1" dirty="0" sz="33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2495"/>
              </a:spcBef>
            </a:pPr>
            <a:r>
              <a:rPr b="1" dirty="0" sz="8300" kern="0" spc="-2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Transaction-level ano</a:t>
            </a:r>
            <a:r>
              <a:rPr b="1" dirty="0" sz="83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malies.</a:t>
            </a:r>
            <a:endParaRPr dirty="0" sz="8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4000"/>
              </a:lnSpc>
              <a:spcBef>
                <a:spcPts val="1"/>
              </a:spcBef>
            </a:pP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Several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records</a:t>
            </a:r>
            <a:r>
              <a:rPr dirty="0" sz="4200" kern="0" spc="7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contained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invalid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numeric</a:t>
            </a:r>
            <a:r>
              <a:rPr dirty="0" sz="4200" kern="0" spc="7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dirty="0" sz="4200" kern="0" spc="7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dirty="0" sz="4200" kern="0" spc="7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distorts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purchasing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behavior.These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must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dirty="0" sz="4200" kern="0" spc="9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removed</a:t>
            </a:r>
            <a:r>
              <a:rPr dirty="0" sz="4200" kern="0" spc="9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prior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dirty="0" sz="4200" kern="0" spc="6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engineering</a:t>
            </a:r>
            <a:r>
              <a:rPr dirty="0" sz="4200" kern="0" spc="8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RFM</a:t>
            </a:r>
            <a:r>
              <a:rPr dirty="0" sz="4200" kern="0" spc="7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metrics.</a:t>
            </a:r>
            <a:endParaRPr dirty="0" sz="4200">
              <a:latin typeface="Arial"/>
              <a:ea typeface="Arial"/>
              <a:cs typeface="Arial"/>
            </a:endParaRPr>
          </a:p>
        </p:txBody>
      </p:sp>
      <p:graphicFrame>
        <p:nvGraphicFramePr>
          <p:cNvPr id="4194305" name="table 82"/>
          <p:cNvGraphicFramePr>
            <a:graphicFrameLocks noGrp="1"/>
          </p:cNvGraphicFramePr>
          <p:nvPr/>
        </p:nvGraphicFramePr>
        <p:xfrm>
          <a:off x="4413084" y="7471611"/>
          <a:ext cx="25450164" cy="4141470"/>
        </p:xfrm>
        <a:graphic>
          <a:graphicData uri="http://schemas.openxmlformats.org/drawingml/2006/table">
            <a:tbl>
              <a:tblPr/>
              <a:tblGrid>
                <a:gridCol w="14032230"/>
                <a:gridCol w="11417934"/>
              </a:tblGrid>
              <a:tr h="833755">
                <a:tc>
                  <a:txBody>
                    <a:bodyPr/>
                    <a:p>
                      <a:pPr algn="l" eaLnBrk="0" rtl="0">
                        <a:lnSpc>
                          <a:spcPct val="1488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3000"/>
                        </a:lnSpc>
                      </a:pPr>
                      <a:r>
                        <a:rPr b="1" dirty="0" sz="33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Missing</a:t>
                      </a:r>
                      <a:r>
                        <a:rPr dirty="0" sz="3300" kern="0" spc="1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b="1" dirty="0" sz="33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CustomerlD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76456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eaLnBrk="0" rtl="0">
                        <a:lnSpc>
                          <a:spcPct val="95000"/>
                        </a:lnSpc>
                      </a:pPr>
                      <a:r>
                        <a:rPr dirty="0" sz="33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135,080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9994">
                <a:tc>
                  <a:txBody>
                    <a:bodyPr/>
                    <a:p>
                      <a:pPr algn="l" eaLnBrk="0" rtl="0">
                        <a:lnSpc>
                          <a:spcPct val="12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515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605914" rtl="0">
                        <a:lnSpc>
                          <a:spcPct val="94000"/>
                        </a:lnSpc>
                      </a:pPr>
                      <a:r>
                        <a:rPr b="1" dirty="0" sz="33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Quantity≤0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263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0002519" rtl="0">
                        <a:lnSpc>
                          <a:spcPct val="95000"/>
                        </a:lnSpc>
                      </a:pPr>
                      <a:r>
                        <a:rPr dirty="0" sz="33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10,624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9360">
                <a:tc>
                  <a:txBody>
                    <a:bodyPr/>
                    <a:p>
                      <a:pPr algn="l" eaLnBrk="0" rtl="0">
                        <a:lnSpc>
                          <a:spcPct val="13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28929" rtl="0">
                        <a:lnSpc>
                          <a:spcPct val="97000"/>
                        </a:lnSpc>
                        <a:spcBef>
                          <a:spcPts val="6"/>
                        </a:spcBef>
                      </a:pPr>
                      <a:r>
                        <a:rPr b="1" dirty="0" sz="3300" kern="0" spc="-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Cancelled</a:t>
                      </a:r>
                      <a:r>
                        <a:rPr dirty="0" sz="3300" kern="0" spc="57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b="1" dirty="0" sz="3300" kern="0" spc="-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(start</a:t>
                      </a:r>
                      <a:r>
                        <a:rPr dirty="0" sz="3300" kern="0" spc="-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b="1" dirty="0" sz="3300" kern="0" spc="-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C)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633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977119" rtl="0">
                        <a:lnSpc>
                          <a:spcPct val="95000"/>
                        </a:lnSpc>
                      </a:pPr>
                      <a:r>
                        <a:rPr dirty="0" sz="33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9,288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8360">
                <a:tc>
                  <a:txBody>
                    <a:bodyPr/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503044" rtl="0">
                        <a:lnSpc>
                          <a:spcPct val="83000"/>
                        </a:lnSpc>
                        <a:spcBef>
                          <a:spcPts val="1"/>
                        </a:spcBef>
                      </a:pPr>
                      <a:r>
                        <a:rPr b="1" dirty="0" sz="25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UnitPrice</a:t>
                      </a:r>
                      <a:r>
                        <a:rPr b="1" dirty="0" sz="25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≤0</a:t>
                      </a:r>
                      <a:endParaRPr dirty="0" sz="25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523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977119" rtl="0">
                        <a:lnSpc>
                          <a:spcPct val="89000"/>
                        </a:lnSpc>
                      </a:pPr>
                      <a:r>
                        <a:rPr dirty="0" sz="33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2,517</a:t>
                      </a:r>
                      <a:endParaRPr dirty="0" sz="33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4"/>
          <p:cNvGrpSpPr/>
          <p:nvPr/>
        </p:nvGrpSpPr>
        <p:grpSpPr>
          <a:xfrm rot="21600000">
            <a:off x="1517660" y="8426379"/>
            <a:ext cx="29444819" cy="8299459"/>
            <a:chOff x="0" y="0"/>
            <a:chExt cx="29444819" cy="8299459"/>
          </a:xfrm>
        </p:grpSpPr>
        <p:pic>
          <p:nvPicPr>
            <p:cNvPr id="2097164" name="picture 84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 rot="21600000">
              <a:off x="0" y="0"/>
              <a:ext cx="29444819" cy="8299459"/>
            </a:xfrm>
            <a:prstGeom prst="rect"/>
          </p:spPr>
        </p:pic>
        <p:sp>
          <p:nvSpPr>
            <p:cNvPr id="1048603" name="textbox 86"/>
            <p:cNvSpPr/>
            <p:nvPr/>
          </p:nvSpPr>
          <p:spPr>
            <a:xfrm>
              <a:off x="-12700" y="-12700"/>
              <a:ext cx="29470350" cy="8408669"/>
            </a:xfrm>
            <a:prstGeom prst="rect"/>
            <a:noFill/>
            <a:ln w="0" cap="flat">
              <a:noFill/>
              <a:prstDash val="solid"/>
              <a:miter lim="0"/>
            </a:ln>
          </p:spPr>
          <p:txBody>
            <a:bodyPr bIns="0" lIns="0" rIns="0" tIns="0" vert="horz" wrap="square"/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0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101000"/>
                </a:lnSpc>
              </a:pPr>
              <a:endParaRPr dirty="0" sz="1000">
                <a:latin typeface="Arial"/>
                <a:ea typeface="Arial"/>
                <a:cs typeface="Arial"/>
              </a:endParaRPr>
            </a:p>
            <a:p>
              <a:pPr algn="l" eaLnBrk="0" rtl="0">
                <a:lnSpc>
                  <a:spcPct val="6317"/>
                </a:lnSpc>
              </a:pPr>
              <a:endParaRPr dirty="0" sz="100">
                <a:latin typeface="Arial"/>
                <a:ea typeface="Arial"/>
                <a:cs typeface="Arial"/>
              </a:endParaRPr>
            </a:p>
            <a:p>
              <a:pPr algn="l" eaLnBrk="0" marL="1206500" rtl="0">
                <a:lnSpc>
                  <a:spcPct val="86000"/>
                </a:lnSpc>
              </a:pPr>
              <a:r>
                <a:rPr dirty="0" sz="29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10-12                </a:t>
              </a:r>
              <a:r>
                <a:rPr dirty="0" sz="27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11-01                </a:t>
              </a:r>
              <a:r>
                <a:rPr dirty="0" sz="29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11-02                11-03               11-04                11-05               11-06                </a:t>
              </a:r>
              <a:r>
                <a:rPr baseline="6200" b="1" dirty="0" sz="42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11-07</a:t>
              </a:r>
              <a:r>
                <a:rPr b="1" dirty="0" sz="27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</a:t>
              </a:r>
              <a:r>
                <a:rPr b="1" dirty="0" sz="27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11-08                 </a:t>
              </a:r>
              <a:r>
                <a:rPr b="1" dirty="0" sz="29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11-09                </a:t>
              </a:r>
              <a:r>
                <a:rPr b="1" dirty="0" sz="27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11-10                 </a:t>
              </a:r>
              <a:r>
                <a:rPr baseline="7234" b="1" dirty="0" sz="3600" kern="0" spc="-2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11-1</a:t>
              </a:r>
              <a:r>
                <a:rPr baseline="7234" b="1" dirty="0" sz="3600" kern="0" spc="-3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  <a:r>
                <a:rPr b="1" dirty="0" sz="2300" kern="0" spc="-3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      </a:t>
              </a:r>
              <a:r>
                <a:rPr b="1" dirty="0" sz="2700" kern="0" spc="-3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11-12</a:t>
              </a:r>
              <a:endParaRPr dirty="0" sz="270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048604" name="textbox 88"/>
          <p:cNvSpPr/>
          <p:nvPr/>
        </p:nvSpPr>
        <p:spPr>
          <a:xfrm>
            <a:off x="1612899" y="1407817"/>
            <a:ext cx="28032075" cy="630300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2045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2900" kern="0" spc="0">
                <a:solidFill>
                  <a:srgbClr val="208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EXPLORATORY</a:t>
            </a:r>
            <a:r>
              <a:rPr b="1" dirty="0" sz="2900" kern="0" spc="70">
                <a:solidFill>
                  <a:srgbClr val="208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b="1" dirty="0" sz="2900" kern="0" spc="0">
                <a:solidFill>
                  <a:srgbClr val="208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dirty="0" sz="29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2472"/>
              </a:spcBef>
            </a:pPr>
            <a:r>
              <a:rPr b="1" dirty="0" sz="82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Purchasing</a:t>
            </a:r>
            <a:r>
              <a:rPr b="1" dirty="0" sz="8200" kern="0" spc="4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2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b="1" dirty="0" sz="8200" kern="0" spc="4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2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highly seas</a:t>
            </a:r>
            <a:r>
              <a:rPr b="1" dirty="0" sz="8200" kern="0" spc="-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onal.</a:t>
            </a:r>
            <a:endParaRPr dirty="0" sz="8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40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7000"/>
              </a:lnSpc>
            </a:pP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</a:t>
            </a:r>
            <a:r>
              <a:rPr dirty="0" sz="4200" kern="0" spc="5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volume</a:t>
            </a:r>
            <a:r>
              <a:rPr dirty="0" sz="4200" kern="0" spc="5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varies</a:t>
            </a:r>
            <a:r>
              <a:rPr dirty="0" sz="4200" kern="0" spc="6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drastically</a:t>
            </a:r>
            <a:r>
              <a:rPr dirty="0" sz="4200" kern="0" spc="6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</a:t>
            </a:r>
            <a:r>
              <a:rPr dirty="0" sz="4200" kern="0" spc="5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dirty="0" sz="42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showing</a:t>
            </a:r>
            <a:r>
              <a:rPr dirty="0" sz="4200" kern="0" spc="6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dirty="0" sz="42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sharp</a:t>
            </a:r>
            <a:r>
              <a:rPr dirty="0" sz="42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spike</a:t>
            </a:r>
            <a:r>
              <a:rPr dirty="0" sz="4200" kern="0" spc="8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dirty="0" sz="4200" kern="0" spc="6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r>
              <a:rPr dirty="0" sz="42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Because</a:t>
            </a:r>
            <a:r>
              <a:rPr dirty="0" sz="4200" kern="0" spc="7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</a:t>
            </a:r>
            <a:r>
              <a:rPr dirty="0" sz="4200" kern="0" spc="7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dirty="0" sz="4200" kern="0" spc="5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dirty="0" sz="42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dependent</a:t>
            </a:r>
            <a:r>
              <a:rPr dirty="0" sz="42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dirty="0" sz="42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Recency</a:t>
            </a:r>
            <a:r>
              <a:rPr dirty="0" sz="4200" kern="0" spc="5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calculations</a:t>
            </a:r>
            <a:r>
              <a:rPr dirty="0" sz="4200" kern="0" spc="6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must</a:t>
            </a:r>
            <a:r>
              <a:rPr dirty="0" sz="4200" kern="0" spc="6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dirty="0" sz="4200" kern="0" spc="4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dirty="0" sz="4200" kern="0" spc="3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fixed</a:t>
            </a:r>
            <a:r>
              <a:rPr dirty="0" sz="4200" kern="0" spc="4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snaps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hot</a:t>
            </a:r>
            <a:r>
              <a:rPr dirty="0" sz="4200" kern="0" spc="4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date.</a:t>
            </a:r>
            <a:endParaRPr dirty="0" sz="42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table 90"/>
          <p:cNvGraphicFramePr>
            <a:graphicFrameLocks noGrp="1"/>
          </p:cNvGraphicFramePr>
          <p:nvPr/>
        </p:nvGraphicFramePr>
        <p:xfrm>
          <a:off x="1552524" y="6454865"/>
          <a:ext cx="29317317" cy="5396864"/>
        </p:xfrm>
        <a:graphic>
          <a:graphicData uri="http://schemas.openxmlformats.org/drawingml/2006/table">
            <a:tbl>
              <a:tblPr/>
              <a:tblGrid>
                <a:gridCol w="5595620"/>
                <a:gridCol w="6756400"/>
                <a:gridCol w="5352414"/>
                <a:gridCol w="7126605"/>
                <a:gridCol w="4486275"/>
              </a:tblGrid>
              <a:tr h="1298575">
                <a:tc>
                  <a:txBody>
                    <a:bodyPr/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7675" rtl="0">
                        <a:lnSpc>
                          <a:spcPct val="79000"/>
                        </a:lnSpc>
                        <a:spcBef>
                          <a:spcPts val="3"/>
                        </a:spcBef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Metric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817620" rtl="0">
                        <a:lnSpc>
                          <a:spcPct val="79000"/>
                        </a:lnSpc>
                        <a:spcBef>
                          <a:spcPts val="3"/>
                        </a:spcBef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Mean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807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274570" rtl="0">
                        <a:lnSpc>
                          <a:spcPts val="4289"/>
                        </a:lnSpc>
                      </a:pPr>
                      <a:r>
                        <a:rPr b="1" dirty="0" sz="34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Std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4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4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034539" rtl="0">
                        <a:lnSpc>
                          <a:spcPct val="97000"/>
                        </a:lnSpc>
                        <a:spcBef>
                          <a:spcPts val="4"/>
                        </a:spcBef>
                      </a:pP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50%(Median)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505200" rtl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Max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3664">
                <a:tc>
                  <a:txBody>
                    <a:bodyPr/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927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7675" rtl="0">
                        <a:lnSpc>
                          <a:spcPct val="79000"/>
                        </a:lnSpc>
                      </a:pPr>
                      <a:r>
                        <a:rPr b="1"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Recency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786504" rtl="0">
                        <a:lnSpc>
                          <a:spcPts val="4275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92.53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938020" rtl="0">
                        <a:lnSpc>
                          <a:spcPts val="4275"/>
                        </a:lnSpc>
                        <a:spcBef>
                          <a:spcPts val="7"/>
                        </a:spcBef>
                      </a:pPr>
                      <a:r>
                        <a:rPr dirty="0" sz="34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100.01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317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888104" rtl="0">
                        <a:lnSpc>
                          <a:spcPts val="4275"/>
                        </a:lnSpc>
                      </a:pPr>
                      <a:r>
                        <a:rPr dirty="0" sz="34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51.00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702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851150" rtl="0">
                        <a:lnSpc>
                          <a:spcPts val="4275"/>
                        </a:lnSpc>
                      </a:pPr>
                      <a:r>
                        <a:rPr b="1" dirty="0" sz="3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374.00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900">
                <a:tc>
                  <a:txBody>
                    <a:bodyPr/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7675" rtl="0">
                        <a:lnSpc>
                          <a:spcPct val="79000"/>
                        </a:lnSpc>
                        <a:spcBef>
                          <a:spcPts val="4"/>
                        </a:spcBef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Frequency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090670" rtl="0">
                        <a:lnSpc>
                          <a:spcPts val="4275"/>
                        </a:lnSpc>
                        <a:spcBef>
                          <a:spcPts val="5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4.27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160904" rtl="0">
                        <a:lnSpc>
                          <a:spcPts val="4275"/>
                        </a:lnSpc>
                        <a:spcBef>
                          <a:spcPts val="7"/>
                        </a:spcBef>
                      </a:pPr>
                      <a:r>
                        <a:rPr dirty="0" sz="3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7.69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142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060190" rtl="0">
                        <a:lnSpc>
                          <a:spcPts val="4275"/>
                        </a:lnSpc>
                      </a:pPr>
                      <a:r>
                        <a:rPr dirty="0" sz="34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2.00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527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851150" rtl="0">
                        <a:lnSpc>
                          <a:spcPts val="4275"/>
                        </a:lnSpc>
                      </a:pPr>
                      <a:r>
                        <a:rPr b="1" dirty="0" sz="3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209.00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5725">
                <a:tc>
                  <a:txBody>
                    <a:bodyPr/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285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47675" rtl="0">
                        <a:lnSpc>
                          <a:spcPct val="79000"/>
                        </a:lnSpc>
                      </a:pPr>
                      <a:r>
                        <a:rPr b="1"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Monetary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358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202304" rtl="0">
                        <a:lnSpc>
                          <a:spcPts val="4275"/>
                        </a:lnSpc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2048.68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30070" rtl="0">
                        <a:lnSpc>
                          <a:spcPts val="4275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8985.23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533140" rtl="0">
                        <a:lnSpc>
                          <a:spcPts val="4275"/>
                        </a:lnSpc>
                        <a:spcBef>
                          <a:spcPts val="1"/>
                        </a:spcBef>
                      </a:pPr>
                      <a:r>
                        <a:rPr dirty="0" sz="34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668.57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190750" rtl="0">
                        <a:lnSpc>
                          <a:spcPts val="4275"/>
                        </a:lnSpc>
                      </a:pPr>
                      <a:r>
                        <a:rPr b="1" dirty="0" sz="3400" kern="0" spc="-20">
                          <a:solidFill>
                            <a:srgbClr val="208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280206.02</a:t>
                      </a:r>
                      <a:endParaRPr dirty="0" sz="34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5" name="textbox 92"/>
          <p:cNvSpPr/>
          <p:nvPr/>
        </p:nvSpPr>
        <p:spPr>
          <a:xfrm>
            <a:off x="1574860" y="1344669"/>
            <a:ext cx="27889200" cy="427418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7717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2000"/>
              </a:lnSpc>
            </a:pPr>
            <a:r>
              <a:rPr b="1" dirty="0" sz="33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</a:t>
            </a:r>
            <a:r>
              <a:rPr b="1" dirty="0" sz="3300" kern="0" spc="28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33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ENGINEERING</a:t>
            </a:r>
            <a:endParaRPr dirty="0" sz="33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3682"/>
              </a:spcBef>
            </a:pPr>
            <a:r>
              <a:rPr b="1" dirty="0" sz="8400" kern="0" spc="-2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Building the</a:t>
            </a:r>
            <a:r>
              <a:rPr b="1" dirty="0" sz="8400" kern="0" spc="4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400" kern="0" spc="-2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RFM data</a:t>
            </a:r>
            <a:r>
              <a:rPr b="1" dirty="0" sz="8400" kern="0" spc="-2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set.</a:t>
            </a:r>
            <a:endParaRPr dirty="0" sz="84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8000"/>
              </a:lnSpc>
              <a:spcBef>
                <a:spcPts val="3"/>
              </a:spcBef>
            </a:pPr>
            <a:r>
              <a:rPr dirty="0" sz="41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After  data  cleaning,39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2,692</a:t>
            </a:r>
            <a:r>
              <a:rPr dirty="0" sz="4100" kern="0" spc="1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</a:t>
            </a:r>
            <a:r>
              <a:rPr dirty="0" sz="4100" kern="0" spc="1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transactions  were</a:t>
            </a:r>
            <a:r>
              <a:rPr dirty="0" sz="4100" kern="0" spc="2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aggregated</a:t>
            </a:r>
            <a:r>
              <a:rPr dirty="0" sz="4100" kern="0" spc="1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dirty="0" sz="4100" kern="0" spc="2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create</a:t>
            </a:r>
            <a:r>
              <a:rPr dirty="0" sz="4100" kern="0" spc="2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customer-level   Recency,Frequency,and</a:t>
            </a:r>
            <a:r>
              <a:rPr dirty="0" sz="41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Monetary(RFM)statistics</a:t>
            </a:r>
            <a:r>
              <a:rPr dirty="0" sz="4100" kern="0" spc="4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dirty="0" sz="4100" kern="0" spc="4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4,338</a:t>
            </a:r>
            <a:r>
              <a:rPr dirty="0" sz="4100" kern="0" spc="5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dirty="0" sz="4100" kern="0" spc="4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clients.</a:t>
            </a:r>
            <a:endParaRPr dirty="0" sz="4100">
              <a:latin typeface="Arial"/>
              <a:ea typeface="Arial"/>
              <a:cs typeface="Arial"/>
            </a:endParaRPr>
          </a:p>
        </p:txBody>
      </p:sp>
      <p:sp>
        <p:nvSpPr>
          <p:cNvPr id="1048606" name="textbox 94"/>
          <p:cNvSpPr/>
          <p:nvPr/>
        </p:nvSpPr>
        <p:spPr>
          <a:xfrm>
            <a:off x="1574861" y="13066084"/>
            <a:ext cx="18300064" cy="73533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588"/>
              </a:lnSpc>
            </a:pPr>
            <a:r>
              <a:rPr dirty="0" sz="41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Notice the ex</a:t>
            </a:r>
            <a:r>
              <a:rPr dirty="0" sz="4100" kern="0" spc="-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treme jump from the 50th percentile(Median)to the</a:t>
            </a:r>
            <a:r>
              <a:rPr dirty="0" sz="4100" kern="0" spc="2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Maximum values.</a:t>
            </a:r>
            <a:endParaRPr dirty="0" sz="41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9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16713119" y="6159581"/>
            <a:ext cx="14249359" cy="8464418"/>
          </a:xfrm>
          <a:prstGeom prst="rect"/>
        </p:spPr>
      </p:pic>
      <p:sp>
        <p:nvSpPr>
          <p:cNvPr id="1048607" name="textbox 98"/>
          <p:cNvSpPr/>
          <p:nvPr/>
        </p:nvSpPr>
        <p:spPr>
          <a:xfrm>
            <a:off x="1555678" y="7203562"/>
            <a:ext cx="13727430" cy="560324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210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3000"/>
              </a:lnSpc>
              <a:spcBef>
                <a:spcPts val="1"/>
              </a:spcBef>
            </a:pPr>
            <a:r>
              <a:rPr dirty="0" sz="4300" kern="0" spc="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dirty="0" sz="4300" kern="0" spc="3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</a:t>
            </a:r>
            <a:r>
              <a:rPr dirty="0" sz="4300" kern="0" spc="3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seg</a:t>
            </a:r>
            <a:r>
              <a:rPr dirty="0" sz="4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</a:t>
            </a:r>
            <a:r>
              <a:rPr dirty="0" sz="4300" kern="0" spc="3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customers</a:t>
            </a:r>
            <a:r>
              <a:rPr dirty="0" sz="4300" kern="0" spc="3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drives</a:t>
            </a:r>
            <a:r>
              <a:rPr dirty="0" sz="4300" kern="0" spc="3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disproportionately</a:t>
            </a:r>
            <a:r>
              <a:rPr dirty="0" sz="4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dirty="0" sz="4300" kern="0" spc="4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activity</a:t>
            </a:r>
            <a:r>
              <a:rPr dirty="0" sz="4300" kern="0" spc="3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dirty="0" sz="4300" kern="0" spc="4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3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revenue.</a:t>
            </a:r>
            <a:endParaRPr dirty="0" sz="4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1142"/>
              </a:spcBef>
            </a:pP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</a:t>
            </a:r>
            <a:r>
              <a:rPr dirty="0" sz="3800" kern="0" spc="5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IQR</a:t>
            </a:r>
            <a:r>
              <a:rPr dirty="0" sz="3800" kern="0" spc="4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boxplot</a:t>
            </a:r>
            <a:r>
              <a:rPr dirty="0" sz="3800" kern="0" spc="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 flags</a:t>
            </a:r>
            <a:r>
              <a:rPr dirty="0" sz="3800" kern="0" spc="4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hundreds</a:t>
            </a:r>
            <a:r>
              <a:rPr dirty="0" sz="3800" kern="0" spc="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valu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dirty="0" sz="3800" kern="0" spc="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170"/>
              </a:spcBef>
            </a:pP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"outliers,"we</a:t>
            </a:r>
            <a:r>
              <a:rPr dirty="0" sz="3800" kern="0" spc="9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elected</a:t>
            </a:r>
            <a:r>
              <a:rPr dirty="0" sz="3800" kern="0" spc="9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retain</a:t>
            </a:r>
            <a:r>
              <a:rPr dirty="0" sz="3800" kern="0" spc="9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them.High  spender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dirty="0" sz="3800" kern="0" spc="10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8000"/>
              </a:lnSpc>
              <a:spcBef>
                <a:spcPts val="288"/>
              </a:spcBef>
            </a:pPr>
            <a:r>
              <a:rPr dirty="0" sz="38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frequent  buyers  rep</a:t>
            </a:r>
            <a:r>
              <a:rPr dirty="0" sz="38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resent  genuine,valuable  behaviors  rather</a:t>
            </a:r>
            <a:r>
              <a:rPr dirty="0" sz="38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</a:t>
            </a:r>
            <a:r>
              <a:rPr dirty="0" sz="3800" kern="0" spc="6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dirty="0" sz="3800" kern="0" spc="6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errors.Transformation</a:t>
            </a:r>
            <a:r>
              <a:rPr dirty="0" sz="3800" kern="0" spc="5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dirty="0" sz="3800" kern="0" spc="7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dirty="0" sz="3800" kern="0" spc="6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dirty="0" sz="3800" kern="0" spc="7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instead</a:t>
            </a:r>
            <a:r>
              <a:rPr dirty="0" sz="3800" kern="0" spc="6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8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  <a:spcBef>
                <a:spcPts val="425"/>
              </a:spcBef>
            </a:pPr>
            <a:r>
              <a:rPr dirty="0" sz="38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removal.</a:t>
            </a:r>
            <a:endParaRPr dirty="0" sz="3800">
              <a:latin typeface="Arial"/>
              <a:ea typeface="Arial"/>
              <a:cs typeface="Arial"/>
            </a:endParaRPr>
          </a:p>
        </p:txBody>
      </p:sp>
      <p:sp>
        <p:nvSpPr>
          <p:cNvPr id="1048608" name="textbox 100"/>
          <p:cNvSpPr/>
          <p:nvPr/>
        </p:nvSpPr>
        <p:spPr>
          <a:xfrm>
            <a:off x="1555678" y="1391825"/>
            <a:ext cx="17327244" cy="191642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763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3200" kern="0" spc="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EXPLORATORY </a:t>
            </a:r>
            <a:r>
              <a:rPr b="1" dirty="0" sz="32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ANALYSIS</a:t>
            </a:r>
            <a:endParaRPr dirty="0" sz="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2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5464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0000"/>
              </a:lnSpc>
            </a:pPr>
            <a:r>
              <a:rPr b="1" dirty="0" sz="8300" kern="0" spc="-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customer base</a:t>
            </a:r>
            <a:r>
              <a:rPr b="1" dirty="0" sz="8300" kern="0" spc="4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300" kern="0" spc="-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b="1" dirty="0" sz="8300" kern="0" spc="4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300" kern="0" spc="-3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b="1" dirty="0" sz="8300" kern="0" spc="-3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ly</a:t>
            </a:r>
            <a:r>
              <a:rPr b="1" dirty="0" sz="8300" kern="0" spc="4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8300" kern="0" spc="-3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uneven.</a:t>
            </a:r>
            <a:endParaRPr dirty="0" sz="8300">
              <a:latin typeface="Arial"/>
              <a:ea typeface="Arial"/>
              <a:cs typeface="Arial"/>
            </a:endParaRPr>
          </a:p>
        </p:txBody>
      </p:sp>
      <p:sp>
        <p:nvSpPr>
          <p:cNvPr id="1048609" name="textbox 102"/>
          <p:cNvSpPr/>
          <p:nvPr/>
        </p:nvSpPr>
        <p:spPr>
          <a:xfrm>
            <a:off x="17417956" y="7020407"/>
            <a:ext cx="4176395" cy="701040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9948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</a:pPr>
            <a:r>
              <a:rPr b="1" dirty="0" sz="43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Recency</a:t>
            </a:r>
            <a:endParaRPr dirty="0" sz="43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4429"/>
              </a:lnSpc>
              <a:spcBef>
                <a:spcPts val="818"/>
              </a:spcBef>
            </a:pP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IQR</a:t>
            </a:r>
            <a:r>
              <a:rPr dirty="0" sz="3200" kern="0" spc="5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Outliers</a:t>
            </a:r>
            <a:r>
              <a:rPr dirty="0" sz="3200" kern="0" spc="5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detected</a:t>
            </a:r>
            <a:endParaRPr dirty="0" sz="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1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1296"/>
              </a:spcBef>
            </a:pPr>
            <a:r>
              <a:rPr b="1" dirty="0" sz="43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Frequency</a:t>
            </a:r>
            <a:endParaRPr dirty="0" sz="43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4429"/>
              </a:lnSpc>
              <a:spcBef>
                <a:spcPts val="818"/>
              </a:spcBef>
            </a:pP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IQR</a:t>
            </a:r>
            <a:r>
              <a:rPr dirty="0" sz="3200" kern="0" spc="5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Outliers</a:t>
            </a:r>
            <a:r>
              <a:rPr dirty="0" sz="3200" kern="0" spc="5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detected</a:t>
            </a:r>
            <a:endParaRPr dirty="0" sz="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32714" rtl="0">
              <a:lnSpc>
                <a:spcPct val="80000"/>
              </a:lnSpc>
              <a:spcBef>
                <a:spcPts val="1143"/>
              </a:spcBef>
            </a:pPr>
            <a:r>
              <a:rPr b="1" dirty="0" sz="38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Monetary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90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ts val="4429"/>
              </a:lnSpc>
            </a:pP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IQR</a:t>
            </a:r>
            <a:r>
              <a:rPr dirty="0" sz="3200" kern="0" spc="5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Outliers</a:t>
            </a:r>
            <a:r>
              <a:rPr dirty="0" sz="3200" kern="0" spc="5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detected</a:t>
            </a:r>
            <a:endParaRPr dirty="0" sz="3200">
              <a:latin typeface="Arial"/>
              <a:ea typeface="Arial"/>
              <a:cs typeface="Arial"/>
            </a:endParaRPr>
          </a:p>
        </p:txBody>
      </p:sp>
      <p:sp>
        <p:nvSpPr>
          <p:cNvPr id="1048610" name="textbox 104"/>
          <p:cNvSpPr/>
          <p:nvPr/>
        </p:nvSpPr>
        <p:spPr>
          <a:xfrm>
            <a:off x="28987678" y="7195911"/>
            <a:ext cx="821689" cy="6458584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179"/>
              </a:lnSpc>
            </a:pPr>
            <a:r>
              <a:rPr dirty="0" sz="3800" kern="0" spc="-1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155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1146"/>
              </a:spcBef>
            </a:pPr>
            <a:r>
              <a:rPr b="1" dirty="0" sz="3800" kern="0" spc="-30">
                <a:solidFill>
                  <a:srgbClr val="D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285</a:t>
            </a:r>
            <a:endParaRPr dirty="0" sz="38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9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1000"/>
              </a:lnSpc>
              <a:spcBef>
                <a:spcPts val="6"/>
              </a:spcBef>
            </a:pPr>
            <a:r>
              <a:rPr b="1" dirty="0" sz="3800" kern="0" spc="-30">
                <a:solidFill>
                  <a:srgbClr val="A03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425</a:t>
            </a:r>
            <a:endParaRPr dirty="0" sz="38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10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/>
        </p:spPr>
      </p:pic>
      <p:graphicFrame>
        <p:nvGraphicFramePr>
          <p:cNvPr id="4194307" name="table 108"/>
          <p:cNvGraphicFramePr>
            <a:graphicFrameLocks noGrp="1"/>
          </p:cNvGraphicFramePr>
          <p:nvPr/>
        </p:nvGraphicFramePr>
        <p:xfrm>
          <a:off x="1568378" y="7384694"/>
          <a:ext cx="28900121" cy="6476999"/>
        </p:xfrm>
        <a:graphic>
          <a:graphicData uri="http://schemas.openxmlformats.org/drawingml/2006/table">
            <a:tbl>
              <a:tblPr/>
              <a:tblGrid>
                <a:gridCol w="899160"/>
                <a:gridCol w="2341879"/>
                <a:gridCol w="2651760"/>
                <a:gridCol w="3632834"/>
                <a:gridCol w="19374485"/>
              </a:tblGrid>
              <a:tr h="2602229">
                <a:tc>
                  <a:txBody>
                    <a:bodyPr/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97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1000"/>
                        </a:lnSpc>
                      </a:pPr>
                      <a:r>
                        <a:rPr dirty="0" sz="4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dirty="0" sz="4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73734" rtl="0">
                        <a:lnSpc>
                          <a:spcPts val="3355"/>
                        </a:lnSpc>
                        <a:spcBef>
                          <a:spcPts val="4"/>
                        </a:spcBef>
                      </a:pPr>
                      <a:r>
                        <a:rPr b="1" dirty="0" sz="27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1.00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884555" rtl="0">
                        <a:lnSpc>
                          <a:spcPts val="3355"/>
                        </a:lnSpc>
                        <a:spcBef>
                          <a:spcPts val="4"/>
                        </a:spcBef>
                      </a:pPr>
                      <a:r>
                        <a:rPr b="1" dirty="0" sz="27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-0.26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847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20114" rtl="0">
                        <a:lnSpc>
                          <a:spcPts val="3355"/>
                        </a:lnSpc>
                      </a:pPr>
                      <a:r>
                        <a:rPr dirty="0" sz="27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-0.12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56145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65629" rtl="0">
                        <a:lnSpc>
                          <a:spcPct val="106000"/>
                        </a:lnSpc>
                      </a:pPr>
                      <a:r>
                        <a:rPr dirty="0" sz="4600" kern="0" spc="-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Customers cannot be accurately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segmented using</a:t>
                      </a:r>
                      <a:r>
                        <a:rPr dirty="0" sz="46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spending</a:t>
                      </a:r>
                      <a:r>
                        <a:rPr dirty="0" sz="46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alone.Two</a:t>
                      </a:r>
                      <a:r>
                        <a:rPr dirty="0" sz="4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customers may spend similar amounts but differ wildly</a:t>
                      </a:r>
                      <a:r>
                        <a:rPr dirty="0" sz="4600" kern="0" spc="2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dirty="0" sz="4600" kern="0" spc="2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46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purchase</a:t>
                      </a:r>
                      <a:endParaRPr dirty="0" sz="4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65629" rtl="0">
                        <a:lnSpc>
                          <a:spcPts val="6269"/>
                        </a:lnSpc>
                      </a:pPr>
                      <a:r>
                        <a:rPr dirty="0" sz="4600" kern="0" spc="-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frequency.</a:t>
                      </a:r>
                      <a:endParaRPr dirty="0" sz="4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74769">
                <a:tc>
                  <a:txBody>
                    <a:bodyPr/>
                    <a:p>
                      <a:pPr algn="l" eaLnBrk="0" rtl="0">
                        <a:lnSpc>
                          <a:spcPct val="13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1000"/>
                        </a:lnSpc>
                        <a:spcBef>
                          <a:spcPts val="6"/>
                        </a:spcBef>
                      </a:pPr>
                      <a:r>
                        <a:rPr dirty="0" sz="4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endParaRPr dirty="0" sz="4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488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4000"/>
                        </a:lnSpc>
                      </a:pPr>
                      <a:r>
                        <a:rPr dirty="0" sz="4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dirty="0" sz="46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59434" rtl="0">
                        <a:lnSpc>
                          <a:spcPts val="3355"/>
                        </a:lnSpc>
                        <a:spcBef>
                          <a:spcPts val="2"/>
                        </a:spcBef>
                      </a:pPr>
                      <a:r>
                        <a:rPr b="1" dirty="0" sz="27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-0.26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10234" rtl="0">
                        <a:lnSpc>
                          <a:spcPct val="88000"/>
                        </a:lnSpc>
                        <a:spcBef>
                          <a:spcPts val="4"/>
                        </a:spcBef>
                      </a:pPr>
                      <a:r>
                        <a:rPr b="1" dirty="0" sz="27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-0.12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67105" rtl="0">
                        <a:lnSpc>
                          <a:spcPts val="3355"/>
                        </a:lnSpc>
                        <a:spcBef>
                          <a:spcPts val="2"/>
                        </a:spcBef>
                      </a:pPr>
                      <a:r>
                        <a:rPr b="1" dirty="0" sz="27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1.00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67105" rtl="0">
                        <a:lnSpc>
                          <a:spcPct val="88000"/>
                        </a:lnSpc>
                        <a:spcBef>
                          <a:spcPts val="4"/>
                        </a:spcBef>
                      </a:pPr>
                      <a:r>
                        <a:rPr b="1" dirty="0" sz="27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0.55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50594" rtl="0">
                        <a:lnSpc>
                          <a:spcPts val="3355"/>
                        </a:lnSpc>
                        <a:spcBef>
                          <a:spcPts val="2"/>
                        </a:spcBef>
                      </a:pPr>
                      <a:r>
                        <a:rPr b="1" dirty="0" sz="27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0.55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76630" rtl="0">
                        <a:lnSpc>
                          <a:spcPct val="82000"/>
                        </a:lnSpc>
                        <a:spcBef>
                          <a:spcPts val="6"/>
                        </a:spcBef>
                      </a:pPr>
                      <a:r>
                        <a:rPr b="1" dirty="0" sz="27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1.00</a:t>
                      </a:r>
                      <a:endParaRPr dirty="0" sz="270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316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65629" rtl="0">
                        <a:lnSpc>
                          <a:spcPct val="117000"/>
                        </a:lnSpc>
                      </a:pPr>
                      <a:r>
                        <a:rPr b="1" dirty="0" sz="38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Moderate</a:t>
                      </a:r>
                      <a:r>
                        <a:rPr b="1" dirty="0" sz="3800" kern="0" spc="3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b="1" dirty="0" sz="38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Positive(0.55): </a:t>
                      </a:r>
                      <a:r>
                        <a:rPr dirty="0" sz="38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Frequency  &amp;Moneta</a:t>
                      </a:r>
                      <a:r>
                        <a:rPr dirty="0" sz="38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ry  are  linked.Frequent  buyers</a:t>
                      </a:r>
                      <a:r>
                        <a:rPr dirty="0" sz="38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tend</a:t>
                      </a:r>
                      <a:r>
                        <a:rPr dirty="0" sz="3800" kern="0" spc="5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dirty="0" sz="3800" kern="0" spc="6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</a:t>
                      </a:r>
                      <a:r>
                        <a:rPr dirty="0" sz="3800" kern="0" spc="6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  <a:r>
                        <a:rPr dirty="0" sz="3800" kern="0" spc="4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  <a:r>
                        <a:rPr dirty="0" sz="3800" kern="0" spc="5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spending.</a:t>
                      </a:r>
                      <a:endParaRPr dirty="0" sz="38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4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5000"/>
                        </a:lnSpc>
                      </a:pPr>
                      <a:endParaRPr dirty="0" sz="9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511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65629" rtl="0">
                        <a:lnSpc>
                          <a:spcPct val="123000"/>
                        </a:lnSpc>
                      </a:pPr>
                      <a:r>
                        <a:rPr b="1"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Weak</a:t>
                      </a:r>
                      <a:r>
                        <a:rPr b="1" dirty="0" sz="3800" kern="0" spc="2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Negative: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Recency</a:t>
                      </a:r>
                      <a:r>
                        <a:rPr dirty="0" sz="3800" kern="0" spc="8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operates  independently.High</a:t>
                      </a:r>
                      <a:r>
                        <a:rPr dirty="0" sz="3800" kern="0" spc="8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spenders</a:t>
                      </a:r>
                      <a:r>
                        <a:rPr dirty="0" sz="3800" kern="0" spc="8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38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  not</a:t>
                      </a:r>
                      <a:r>
                        <a:rPr dirty="0" sz="38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dirty="0" sz="38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necessarily  recent</a:t>
                      </a:r>
                      <a:r>
                        <a:rPr dirty="0" sz="38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dirty="0" sz="38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dirty="0" sz="38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uyers.</a:t>
                      </a:r>
                      <a:endParaRPr dirty="0" sz="3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48611" name="textbox 110"/>
          <p:cNvSpPr/>
          <p:nvPr/>
        </p:nvSpPr>
        <p:spPr>
          <a:xfrm>
            <a:off x="1555678" y="1391825"/>
            <a:ext cx="14291944" cy="513842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763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83000"/>
              </a:lnSpc>
            </a:pPr>
            <a:r>
              <a:rPr b="1" dirty="0" sz="3200" kern="0" spc="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EXPLORATORY </a:t>
            </a:r>
            <a:r>
              <a:rPr b="1" dirty="0" sz="3200" kern="0" spc="2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ANALYSIS</a:t>
            </a:r>
            <a:endParaRPr dirty="0" sz="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55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1000"/>
              </a:lnSpc>
              <a:spcBef>
                <a:spcPts val="2491"/>
              </a:spcBef>
            </a:pPr>
            <a:r>
              <a:rPr b="1" dirty="0" sz="8300" kern="0" spc="-2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 is multi-dimensional.</a:t>
            </a:r>
            <a:endParaRPr dirty="0" sz="83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6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0000"/>
              </a:lnSpc>
            </a:pPr>
            <a:endParaRPr dirty="0" sz="900">
              <a:latin typeface="Arial"/>
              <a:ea typeface="Arial"/>
              <a:cs typeface="Arial"/>
            </a:endParaRPr>
          </a:p>
          <a:p>
            <a:pPr algn="l" eaLnBrk="0" marL="3727450" rtl="0">
              <a:lnSpc>
                <a:spcPts val="4495"/>
              </a:lnSpc>
              <a:spcBef>
                <a:spcPts val="4"/>
              </a:spcBef>
            </a:pPr>
            <a:r>
              <a:rPr dirty="0" sz="3600" kern="0" spc="-2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dirty="0" sz="3600" kern="0" spc="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dirty="0" sz="3600" kern="0" spc="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600" kern="0" spc="-2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dirty="0" sz="3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dirty="0" sz="3600" kern="0" spc="-2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dirty="0" sz="36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11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/>
        </p:spPr>
      </p:pic>
      <p:sp>
        <p:nvSpPr>
          <p:cNvPr id="1048612" name="textbox 114"/>
          <p:cNvSpPr/>
          <p:nvPr/>
        </p:nvSpPr>
        <p:spPr>
          <a:xfrm>
            <a:off x="3359119" y="6001458"/>
            <a:ext cx="11028044" cy="847026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446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82550" rtl="0">
              <a:lnSpc>
                <a:spcPct val="81000"/>
              </a:lnSpc>
            </a:pPr>
            <a:r>
              <a:rPr b="1" dirty="0" sz="4100" kern="0" spc="-1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280,202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5117465" rtl="0">
              <a:lnSpc>
                <a:spcPct val="68000"/>
              </a:lnSpc>
              <a:spcBef>
                <a:spcPts val="1233"/>
              </a:spcBef>
            </a:pPr>
            <a:r>
              <a:rPr b="1" dirty="0" sz="4100" kern="0" spc="-2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373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marL="9638665" rtl="0">
              <a:lnSpc>
                <a:spcPct val="81000"/>
              </a:lnSpc>
              <a:spcBef>
                <a:spcPts val="30"/>
              </a:spcBef>
            </a:pPr>
            <a:r>
              <a:rPr b="1" dirty="0" sz="26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208</a:t>
            </a:r>
            <a:endParaRPr dirty="0" sz="26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8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8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98000"/>
              </a:lnSpc>
              <a:spcBef>
                <a:spcPts val="5"/>
              </a:spcBef>
            </a:pPr>
            <a:r>
              <a:rPr baseline="9375" b="1" dirty="0" sz="50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Monetary</a:t>
            </a: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baseline="-4167" b="1" dirty="0" sz="50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Recency</a:t>
            </a: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</a:t>
            </a:r>
            <a:r>
              <a:rPr baseline="-4167" b="1" dirty="0" sz="50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Frequency</a:t>
            </a:r>
            <a:endParaRPr baseline="-4167" dirty="0" sz="5000">
              <a:latin typeface="Arial"/>
              <a:ea typeface="Arial"/>
              <a:cs typeface="Arial"/>
            </a:endParaRPr>
          </a:p>
        </p:txBody>
      </p:sp>
      <p:sp>
        <p:nvSpPr>
          <p:cNvPr id="1048613" name="textbox 116"/>
          <p:cNvSpPr/>
          <p:nvPr/>
        </p:nvSpPr>
        <p:spPr>
          <a:xfrm>
            <a:off x="17233940" y="6995566"/>
            <a:ext cx="13113385" cy="691134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588"/>
              </a:lnSpc>
            </a:pP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 RFM</a:t>
            </a:r>
            <a:r>
              <a:rPr dirty="0" sz="4100" kern="0" spc="8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r>
              <a:rPr dirty="0" sz="4100" kern="0" spc="9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dirty="0" sz="4100" kern="0" spc="9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dirty="0" sz="4100" kern="0" spc="8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vastly</a:t>
            </a:r>
            <a:r>
              <a:rPr dirty="0" sz="4100" kern="0" spc="9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</a:t>
            </a:r>
            <a:r>
              <a:rPr dirty="0" sz="4100" kern="0" spc="9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scales.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5588"/>
              </a:lnSpc>
              <a:spcBef>
                <a:spcPts val="461"/>
              </a:spcBef>
            </a:pPr>
            <a:r>
              <a:rPr dirty="0" sz="4100" kern="0" spc="-3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Monetary  range  dwarfs  both  Frequency  and  Recency.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10000"/>
              </a:lnSpc>
              <a:spcBef>
                <a:spcPts val="1242"/>
              </a:spcBef>
            </a:pPr>
            <a:r>
              <a:rPr dirty="0" sz="41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Because</a:t>
            </a:r>
            <a:r>
              <a:rPr dirty="0" sz="4100" kern="0" spc="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K-Means clustering is distance-based,applying</a:t>
            </a:r>
            <a:r>
              <a:rPr dirty="0" sz="41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dirty="0" sz="41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algorithms directly to the raw</a:t>
            </a:r>
            <a:r>
              <a:rPr dirty="0" sz="4100" kern="0" spc="2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1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RFM values would cause</a:t>
            </a:r>
            <a:r>
              <a:rPr dirty="0" sz="41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dirty="0" sz="4100" kern="0" spc="-8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Monetary metrics to completely dominate the</a:t>
            </a:r>
            <a:r>
              <a:rPr dirty="0" sz="4100" kern="0" spc="1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4100" kern="0" spc="-9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clustering</a:t>
            </a:r>
            <a:r>
              <a:rPr dirty="0" sz="41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dirty="0" sz="4100" kern="0" spc="-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process,effectively ignoring the </a:t>
            </a:r>
            <a:r>
              <a:rPr dirty="0" sz="4100" kern="0" spc="-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 variables.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1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2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551815" rtl="0">
              <a:lnSpc>
                <a:spcPct val="79000"/>
              </a:lnSpc>
              <a:spcBef>
                <a:spcPts val="1240"/>
              </a:spcBef>
            </a:pPr>
            <a:r>
              <a:rPr b="1" dirty="0" sz="4100" kern="0" spc="-4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Resolution:Apply</a:t>
            </a:r>
            <a:r>
              <a:rPr b="1" dirty="0" sz="4100" kern="0" spc="29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4100" kern="0" spc="-4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 Transforma</a:t>
            </a:r>
            <a:r>
              <a:rPr b="1" dirty="0" sz="4100" kern="0" spc="-5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 &amp;Standard</a:t>
            </a:r>
            <a:endParaRPr dirty="0" sz="4100">
              <a:latin typeface="Arial"/>
              <a:ea typeface="Arial"/>
              <a:cs typeface="Arial"/>
            </a:endParaRPr>
          </a:p>
          <a:p>
            <a:pPr algn="l" eaLnBrk="0" marL="551815" rtl="0">
              <a:lnSpc>
                <a:spcPts val="5349"/>
              </a:lnSpc>
            </a:pPr>
            <a:r>
              <a:rPr b="1" dirty="0" sz="4100" kern="0" spc="-3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Scaling befor</a:t>
            </a:r>
            <a:r>
              <a:rPr b="1" dirty="0" sz="4100" kern="0" spc="-4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b="1" dirty="0" sz="4100" kern="0" spc="24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b="1" dirty="0" sz="4100" kern="0" spc="-4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modeling.</a:t>
            </a:r>
            <a:endParaRPr dirty="0" sz="4100">
              <a:latin typeface="Arial"/>
              <a:ea typeface="Arial"/>
              <a:cs typeface="Arial"/>
            </a:endParaRPr>
          </a:p>
        </p:txBody>
      </p:sp>
      <p:sp>
        <p:nvSpPr>
          <p:cNvPr id="1048614" name="textbox 118"/>
          <p:cNvSpPr/>
          <p:nvPr/>
        </p:nvSpPr>
        <p:spPr>
          <a:xfrm>
            <a:off x="1555679" y="1391825"/>
            <a:ext cx="14027150" cy="204470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6763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50165" rtl="0">
              <a:lnSpc>
                <a:spcPct val="83000"/>
              </a:lnSpc>
            </a:pPr>
            <a:r>
              <a:rPr b="1" dirty="0" sz="32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NEXT</a:t>
            </a:r>
            <a:r>
              <a:rPr b="1" dirty="0" sz="32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b="1" dirty="0" sz="32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b="1" dirty="0" sz="3200" kern="0" spc="1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b="1" dirty="0" sz="3200" kern="0" spc="0">
                <a:solidFill>
                  <a:srgbClr val="208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PREPARATION</a:t>
            </a:r>
            <a:endParaRPr dirty="0" sz="32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49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2000"/>
              </a:lnSpc>
            </a:pPr>
            <a:endParaRPr dirty="0" sz="21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92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1000"/>
              </a:lnSpc>
            </a:pPr>
            <a:r>
              <a:rPr b="1" dirty="0" sz="8600" kern="0" spc="-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Standardizing </a:t>
            </a:r>
            <a:r>
              <a:rPr b="1" dirty="0" sz="8600" kern="0" spc="-3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scales.</a:t>
            </a:r>
            <a:endParaRPr dirty="0" sz="86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box 120"/>
          <p:cNvSpPr/>
          <p:nvPr/>
        </p:nvSpPr>
        <p:spPr>
          <a:xfrm>
            <a:off x="4394301" y="3205867"/>
            <a:ext cx="24103964" cy="1157605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54603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ct val="125000"/>
              </a:lnSpc>
            </a:pP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https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://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media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istockphoto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com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id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/1175445207/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vector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shopping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-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people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jpg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1" tooltip=""/>
              </a:rPr>
              <a:t>?s=612</a:t>
            </a:r>
            <a:r>
              <a:rPr dirty="0" sz="2600" kern="0" spc="-52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×612&amp;w=0&amp;k=20&amp;c=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GybUaCOwmcbl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dirty="0" sz="2600" kern="0" spc="50" u="dotted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2600" kern="0" spc="-6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obGpJe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bARvN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65e4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TaVsmJIT</a:t>
            </a:r>
            <a:r>
              <a:rPr dirty="0" sz="2600" kern="0" spc="5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aWXA</a:t>
            </a:r>
            <a:r>
              <a:rPr dirty="0" sz="2600" kern="0" spc="4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Source:</a:t>
            </a:r>
            <a:r>
              <a:rPr dirty="0" sz="3300" kern="0" spc="7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3300" kern="0" spc="0">
                <a:solidFill>
                  <a:srgbClr val="4030D0">
                    <a:alpha val="100000"/>
                  </a:srgbClr>
                </a:solidFill>
                <a:latin typeface="Arial"/>
                <a:ea typeface="Arial"/>
                <a:cs typeface="Arial"/>
                <a:hlinkClick r:id="rId2" tooltip=""/>
              </a:rPr>
              <a:t>www.istockphoto.com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sp>
        <p:nvSpPr>
          <p:cNvPr id="1048616" name="textbox 122"/>
          <p:cNvSpPr/>
          <p:nvPr/>
        </p:nvSpPr>
        <p:spPr>
          <a:xfrm>
            <a:off x="4394301" y="5282285"/>
            <a:ext cx="10024744" cy="105536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3611"/>
              </a:lnSpc>
            </a:pP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https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://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cdn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cxtms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com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/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blog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/2026-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emerging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-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trends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-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technology</a:t>
            </a:r>
            <a:r>
              <a:rPr dirty="0" sz="2600" kern="0" spc="7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.</a:t>
            </a:r>
            <a:r>
              <a:rPr dirty="0" sz="26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/>
              </a:rPr>
              <a:t>webp</a:t>
            </a:r>
            <a:endParaRPr dirty="0" sz="26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4497"/>
              </a:lnSpc>
            </a:pPr>
            <a:r>
              <a:rPr dirty="0" sz="3300" kern="0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Source</a:t>
            </a:r>
            <a:r>
              <a:rPr dirty="0" sz="3300" kern="0" spc="1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dirty="0" sz="3300" kern="0" spc="0">
                <a:solidFill>
                  <a:srgbClr val="402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cxtms</a:t>
            </a:r>
            <a:r>
              <a:rPr dirty="0" sz="3300" kern="0" spc="10">
                <a:solidFill>
                  <a:srgbClr val="402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dirty="0" sz="3300" kern="0" spc="0">
                <a:solidFill>
                  <a:srgbClr val="402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</a:t>
            </a:r>
            <a:endParaRPr dirty="0" sz="3300">
              <a:latin typeface="Arial"/>
              <a:ea typeface="Arial"/>
              <a:cs typeface="Arial"/>
            </a:endParaRPr>
          </a:p>
        </p:txBody>
      </p:sp>
      <p:sp>
        <p:nvSpPr>
          <p:cNvPr id="1048617" name="textbox 124"/>
          <p:cNvSpPr/>
          <p:nvPr/>
        </p:nvSpPr>
        <p:spPr>
          <a:xfrm>
            <a:off x="1771558" y="1679412"/>
            <a:ext cx="6664325" cy="1037589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9782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r" eaLnBrk="0" rtl="0">
              <a:lnSpc>
                <a:spcPct val="82000"/>
              </a:lnSpc>
            </a:pPr>
            <a:r>
              <a:rPr b="1" dirty="0" sz="8100" kern="0" lang="en-US" spc="-2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b="1" dirty="0" sz="8100" kern="0" spc="-26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mage Sources</a:t>
            </a:r>
            <a:endParaRPr dirty="0" sz="8100">
              <a:latin typeface="Arial"/>
              <a:ea typeface="Arial"/>
              <a:cs typeface="Arial"/>
            </a:endParaRPr>
          </a:p>
        </p:txBody>
      </p:sp>
      <p:pic>
        <p:nvPicPr>
          <p:cNvPr id="2097168" name="picture 126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21600000">
            <a:off x="1593738" y="3035259"/>
            <a:ext cx="2273563" cy="1416039"/>
          </a:xfrm>
          <a:prstGeom prst="rect"/>
        </p:spPr>
      </p:pic>
      <p:pic>
        <p:nvPicPr>
          <p:cNvPr id="2097169" name="picture 128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21600000">
            <a:off x="1485798" y="5137098"/>
            <a:ext cx="2330460" cy="1327160"/>
          </a:xfrm>
          <a:prstGeom prst="rect"/>
        </p:spPr>
      </p:pic>
      <p:pic>
        <p:nvPicPr>
          <p:cNvPr id="2097170" name="picture 130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21600000">
            <a:off x="1479621" y="4762560"/>
            <a:ext cx="29502034" cy="1902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TECNO KI5k</dc:creator>
  <dcterms:created xsi:type="dcterms:W3CDTF">2026-09-28T23:46:40Z</dcterms:created>
  <dcterms:modified xsi:type="dcterms:W3CDTF">2026-09-28T21:49:03Z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2026-09-29T05:46:49</vt:filetime>
  </property>
  <property fmtid="{D5CDD505-2E9C-101B-9397-08002B2CF9AE}" pid="4" name="UsrData">
    <vt:lpwstr>6abae03a5b6f5c001fd21a9cwl</vt:lpwstr>
  </property>
  <property fmtid="{D5CDD505-2E9C-101B-9397-08002B2CF9AE}" pid="5" name="ICV">
    <vt:lpwstr>f3b7d9a5b99b4679a57e71be73a2b404</vt:lpwstr>
  </property>
</Properties>
</file>